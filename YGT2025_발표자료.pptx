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8125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-1512" y="-112"/>
      </p:cViewPr>
      <p:guideLst>
        <p:guide orient="horz" pos="2157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9.xml"  /><Relationship Id="rId11" Type="http://schemas.openxmlformats.org/officeDocument/2006/relationships/slide" Target="slides/slide10.xml"  /><Relationship Id="rId12" Type="http://schemas.openxmlformats.org/officeDocument/2006/relationships/slide" Target="slides/slide11.xml"  /><Relationship Id="rId13" Type="http://schemas.openxmlformats.org/officeDocument/2006/relationships/slide" Target="slides/slide12.xml"  /><Relationship Id="rId14" Type="http://schemas.openxmlformats.org/officeDocument/2006/relationships/slide" Target="slides/slide13.xml"  /><Relationship Id="rId15" Type="http://schemas.openxmlformats.org/officeDocument/2006/relationships/slide" Target="slides/slide14.xml"  /><Relationship Id="rId16" Type="http://schemas.openxmlformats.org/officeDocument/2006/relationships/slide" Target="slides/slide15.xml"  /><Relationship Id="rId17" Type="http://schemas.openxmlformats.org/officeDocument/2006/relationships/slide" Target="slides/slide16.xml"  /><Relationship Id="rId18" Type="http://schemas.openxmlformats.org/officeDocument/2006/relationships/slide" Target="slides/slide17.xml"  /><Relationship Id="rId19" Type="http://schemas.openxmlformats.org/officeDocument/2006/relationships/presProps" Target="presProps.xml"  /><Relationship Id="rId2" Type="http://schemas.openxmlformats.org/officeDocument/2006/relationships/slide" Target="slides/slide1.xml"  /><Relationship Id="rId20" Type="http://schemas.openxmlformats.org/officeDocument/2006/relationships/viewProps" Target="viewProps.xml"  /><Relationship Id="rId21" Type="http://schemas.openxmlformats.org/officeDocument/2006/relationships/theme" Target="theme/theme1.xml"  /><Relationship Id="rId22" Type="http://schemas.openxmlformats.org/officeDocument/2006/relationships/tableStyles" Target="tableStyles.xml"  /><Relationship Id="rId3" Type="http://schemas.openxmlformats.org/officeDocument/2006/relationships/slide" Target="slides/slide2.xml"  /><Relationship Id="rId4" Type="http://schemas.openxmlformats.org/officeDocument/2006/relationships/slide" Target="slides/slide3.xml"  /><Relationship Id="rId5" Type="http://schemas.openxmlformats.org/officeDocument/2006/relationships/slide" Target="slides/slide4.xml"  /><Relationship Id="rId6" Type="http://schemas.openxmlformats.org/officeDocument/2006/relationships/slide" Target="slides/slide5.xml"  /><Relationship Id="rId7" Type="http://schemas.openxmlformats.org/officeDocument/2006/relationships/slide" Target="slides/slide6.xml"  /><Relationship Id="rId8" Type="http://schemas.openxmlformats.org/officeDocument/2006/relationships/slide" Target="slides/slide7.xml"  /><Relationship Id="rId9" Type="http://schemas.openxmlformats.org/officeDocument/2006/relationships/slide" Target="slides/slide8.xml"  /></Relationship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3.png"  /><Relationship Id="rId3" Type="http://schemas.openxmlformats.org/officeDocument/2006/relationships/image" Target="../media/image4.png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5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6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7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8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9.png"  /><Relationship Id="rId3" Type="http://schemas.openxmlformats.org/officeDocument/2006/relationships/image" Target="../media/image10.png"  /><Relationship Id="rId4" Type="http://schemas.openxmlformats.org/officeDocument/2006/relationships/image" Target="../media/image11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2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3.png"  /><Relationship Id="rId3" Type="http://schemas.openxmlformats.org/officeDocument/2006/relationships/image" Target="../media/image14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5.png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6.png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a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Rectangle 2"/>
          <p:cNvSpPr/>
          <p:nvPr/>
        </p:nvSpPr>
        <p:spPr>
          <a:xfrm>
            <a:off x="7635240" y="0"/>
            <a:ext cx="4556455" cy="6858000"/>
          </a:xfrm>
          <a:prstGeom prst="rect">
            <a:avLst/>
          </a:prstGeom>
          <a:solidFill>
            <a:srgbClr val="26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822960" cy="146304"/>
          </a:xfrm>
          <a:prstGeom prst="roundRect">
            <a:avLst>
              <a:gd name="adj" fmla="val 50000"/>
            </a:avLst>
          </a:prstGeom>
          <a:solidFill>
            <a:srgbClr val="e8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6766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800" b="1">
                <a:solidFill>
                  <a:srgbClr val="539fe0"/>
                </a:solidFill>
                <a:latin typeface="맑은 고딕"/>
                <a:ea typeface="맑은 고딕"/>
              </a:rPr>
              <a:t>공군사관학교 2학년 생도 서바이벌 미니게임</a:t>
            </a:r>
            <a:endParaRPr sz="1800" b="1">
              <a:solidFill>
                <a:srgbClr val="539fe0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49808" y="2148840"/>
            <a:ext cx="6949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400" b="1">
                <a:solidFill>
                  <a:srgbClr val="ffffff"/>
                </a:solidFill>
                <a:latin typeface="맑은 고딕"/>
                <a:ea typeface="맑은 고딕"/>
              </a:rPr>
              <a:t>YGT 2025</a:t>
            </a:r>
            <a:endParaRPr sz="10400" b="1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66751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2600" b="1">
                <a:solidFill>
                  <a:srgbClr val="f4f2ec"/>
                </a:solidFill>
                <a:latin typeface="맑은 고딕"/>
                <a:ea typeface="맑은 고딕"/>
              </a:rPr>
              <a:t>“몰래 하다가, </a:t>
            </a:r>
            <a:r>
              <a:rPr sz="2600" b="1">
                <a:solidFill>
                  <a:srgbClr val="e84e6e"/>
                </a:solidFill>
                <a:latin typeface="맑은 고딕"/>
                <a:ea typeface="맑은 고딕"/>
              </a:rPr>
              <a:t>들키기 직전에 멈춰라</a:t>
            </a:r>
            <a:r>
              <a:rPr sz="2600" b="1">
                <a:solidFill>
                  <a:srgbClr val="f4f2ec"/>
                </a:solidFill>
                <a:latin typeface="맑은 고딕"/>
                <a:ea typeface="맑은 고딕"/>
              </a:rPr>
              <a:t>”</a:t>
            </a:r>
            <a:endParaRPr sz="2600" b="1">
              <a:solidFill>
                <a:srgbClr val="f4f2ec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41248" y="457200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500" b="0">
                <a:solidFill>
                  <a:srgbClr val="b9bccc"/>
                </a:solidFill>
                <a:latin typeface="맑은 고딕"/>
                <a:ea typeface="맑은 고딕"/>
              </a:rPr>
              <a:t>선배에게 걸리면 게임 오버. 5종의 메인 퀘스트와 3종의 돌발 미니 퀘스트를</a:t>
            </a:r>
            <a:endParaRPr sz="1500" b="0">
              <a:solidFill>
                <a:srgbClr val="b9bccc"/>
              </a:solidFill>
              <a:latin typeface="맑은 고딕"/>
              <a:ea typeface="맑은 고딕"/>
            </a:endParaRP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500" b="0">
                <a:solidFill>
                  <a:srgbClr val="b9bccc"/>
                </a:solidFill>
                <a:latin typeface="맑은 고딕"/>
                <a:ea typeface="맑은 고딕"/>
              </a:rPr>
              <a:t>반응속도·눈치·운으로 넘기며 하루하루 살아남는 모바일 웹 게임.</a:t>
            </a:r>
            <a:endParaRPr sz="1500" b="0">
              <a:solidFill>
                <a:srgbClr val="b9bccc"/>
              </a:solidFill>
              <a:latin typeface="맑은 고딕"/>
              <a:ea typeface="맑은 고딕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841248" y="5623560"/>
            <a:ext cx="889078" cy="384048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841248" y="5623560"/>
            <a:ext cx="88907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Phaser 3</a:t>
            </a:r>
            <a:endParaRPr sz="1200" b="1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894918" y="5623560"/>
            <a:ext cx="1074771" cy="384048"/>
          </a:xfrm>
          <a:prstGeom prst="roundRect">
            <a:avLst>
              <a:gd name="adj" fmla="val 50000"/>
            </a:avLst>
          </a:prstGeom>
          <a:solidFill>
            <a:srgbClr val="2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2" name="TextBox 11"/>
          <p:cNvSpPr txBox="1"/>
          <p:nvPr/>
        </p:nvSpPr>
        <p:spPr>
          <a:xfrm>
            <a:off x="1894918" y="5623560"/>
            <a:ext cx="1074771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TypeScript</a:t>
            </a:r>
            <a:endParaRPr sz="1200" b="1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134281" y="5623560"/>
            <a:ext cx="424844" cy="384048"/>
          </a:xfrm>
          <a:prstGeom prst="roundRect">
            <a:avLst>
              <a:gd name="adj" fmla="val 50000"/>
            </a:avLst>
          </a:prstGeom>
          <a:solidFill>
            <a:srgbClr val="2fb8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3134281" y="5623560"/>
            <a:ext cx="42484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PWA</a:t>
            </a:r>
            <a:endParaRPr sz="1200" b="1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723718" y="5623560"/>
            <a:ext cx="1074771" cy="384048"/>
          </a:xfrm>
          <a:prstGeom prst="roundRect">
            <a:avLst>
              <a:gd name="adj" fmla="val 50000"/>
            </a:avLst>
          </a:prstGeom>
          <a:solidFill>
            <a:srgbClr val="f2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6" name="TextBox 15"/>
          <p:cNvSpPr txBox="1"/>
          <p:nvPr/>
        </p:nvSpPr>
        <p:spPr>
          <a:xfrm>
            <a:off x="3723718" y="5623560"/>
            <a:ext cx="1074771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Cloudflare</a:t>
            </a:r>
            <a:endParaRPr sz="1200" b="1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6144768"/>
            <a:ext cx="6400800" cy="1988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f4f2ec"/>
                </a:solidFill>
                <a:latin typeface="맑은 고딕"/>
                <a:ea typeface="맑은 고딕"/>
              </a:rPr>
              <a:t>제작 · 발표  |  </a:t>
            </a:r>
            <a:r>
              <a:rPr lang="ko-KR" altLang="en-US" sz="1300" b="1">
                <a:solidFill>
                  <a:srgbClr val="f4f2ec"/>
                </a:solidFill>
                <a:latin typeface="맑은 고딕"/>
                <a:ea typeface="맑은 고딕"/>
              </a:rPr>
              <a:t>오연택</a:t>
            </a:r>
            <a:r>
              <a:rPr lang="en-US" altLang="ko-KR" sz="1300" b="1">
                <a:solidFill>
                  <a:srgbClr val="f4f2ec"/>
                </a:solidFill>
                <a:latin typeface="맑은 고딕"/>
                <a:ea typeface="맑은 고딕"/>
              </a:rPr>
              <a:t>,</a:t>
            </a:r>
            <a:r>
              <a:rPr lang="ko-KR" altLang="en-US" sz="1300" b="1">
                <a:solidFill>
                  <a:srgbClr val="f4f2ec"/>
                </a:solidFill>
                <a:latin typeface="맑은 고딕"/>
                <a:ea typeface="맑은 고딕"/>
              </a:rPr>
              <a:t> 이효산</a:t>
            </a:r>
            <a:r>
              <a:rPr lang="en-US" altLang="ko-KR" sz="1300" b="1">
                <a:solidFill>
                  <a:srgbClr val="f4f2ec"/>
                </a:solidFill>
                <a:latin typeface="맑은 고딕"/>
                <a:ea typeface="맑은 고딕"/>
              </a:rPr>
              <a:t>,</a:t>
            </a:r>
            <a:r>
              <a:rPr lang="ko-KR" altLang="en-US" sz="1300" b="1">
                <a:solidFill>
                  <a:srgbClr val="f4f2ec"/>
                </a:solidFill>
                <a:latin typeface="맑은 고딕"/>
                <a:ea typeface="맑은 고딕"/>
              </a:rPr>
              <a:t> 주재성</a:t>
            </a:r>
            <a:r>
              <a:rPr lang="en-US" altLang="ko-KR" sz="1300" b="1">
                <a:solidFill>
                  <a:srgbClr val="f4f2ec"/>
                </a:solidFill>
                <a:latin typeface="맑은 고딕"/>
                <a:ea typeface="맑은 고딕"/>
              </a:rPr>
              <a:t>,</a:t>
            </a:r>
            <a:r>
              <a:rPr lang="ko-KR" altLang="en-US" sz="1300" b="1">
                <a:solidFill>
                  <a:srgbClr val="f4f2ec"/>
                </a:solidFill>
                <a:latin typeface="맑은 고딕"/>
                <a:ea typeface="맑은 고딕"/>
              </a:rPr>
              <a:t> 김민승</a:t>
            </a:r>
            <a:endParaRPr lang="en-US" altLang="ko-KR" sz="1300" b="1">
              <a:solidFill>
                <a:srgbClr val="f4f2ec"/>
              </a:solidFill>
              <a:latin typeface="맑은 고딕"/>
              <a:ea typeface="맑은 고딕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398764" y="786384"/>
            <a:ext cx="3044952" cy="52852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7940">
            <a:solidFill>
              <a:srgbClr val="16161f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pic>
        <p:nvPicPr>
          <p:cNvPr id="19" name="Picture 18" descr="01_title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481060" y="868680"/>
            <a:ext cx="2880360" cy="51206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E8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84E6E"/>
                </a:solidFill>
                <a:latin typeface="Malgun Gothic"/>
                <a:ea typeface="Malgun Gothic"/>
              </a:rPr>
              <a:t>CONCEPT · 게임 소개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61F"/>
                </a:solidFill>
                <a:latin typeface="Malgun Gothic"/>
                <a:ea typeface="Malgun Gothic"/>
              </a:rPr>
              <a:t>머리가 좀 커진 2학년 생도의 몰래하기 서바이벌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554480"/>
            <a:ext cx="6126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E84E6E"/>
                </a:solidFill>
                <a:latin typeface="Malgun Gothic"/>
                <a:ea typeface="Malgun Gothic"/>
              </a:rPr>
              <a:t>무엇을 하는 게임인가?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1965960"/>
            <a:ext cx="61264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16161F"/>
                </a:solidFill>
                <a:latin typeface="Malgun Gothic"/>
                <a:ea typeface="Malgun Gothic"/>
              </a:rPr>
              <a:t>군사훈련을 마친 공군사관학교 2학년 생도 ‘기태’. 머리가 좀 커져서
샤워장에서 노래를 틀고, 몰래 라면을 끓이고, 벽을 두드리며 장난친다.
하지만 선배에게 딱 걸리는 순간 — 게임 오버.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429000"/>
            <a:ext cx="6126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E84E6E"/>
                </a:solidFill>
                <a:latin typeface="Malgun Gothic"/>
                <a:ea typeface="Malgun Gothic"/>
              </a:rPr>
              <a:t>핵심 메커닉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840480"/>
            <a:ext cx="60350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957" b="1">
                <a:solidFill>
                  <a:srgbClr val="E84E6E"/>
                </a:solidFill>
                <a:latin typeface="Malgun Gothic"/>
                <a:ea typeface="Malgun Gothic"/>
              </a:rPr>
              <a:t>●  </a:t>
            </a:r>
            <a:r>
              <a:rPr sz="1450" b="1">
                <a:solidFill>
                  <a:srgbClr val="16161F"/>
                </a:solidFill>
                <a:latin typeface="Malgun Gothic"/>
                <a:ea typeface="Malgun Gothic"/>
              </a:rPr>
              <a:t>몰래 하다 멈추기</a:t>
            </a:r>
            <a:r>
              <a:rPr sz="1300" b="0">
                <a:solidFill>
                  <a:srgbClr val="5A5C69"/>
                </a:solidFill>
                <a:latin typeface="Malgun Gothic"/>
                <a:ea typeface="Malgun Gothic"/>
              </a:rPr>
              <a:t>   「선생님 몰래 춤추기」식 — 위험 순간에만 능동적으로 숨는다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957" b="1">
                <a:solidFill>
                  <a:srgbClr val="E84E6E"/>
                </a:solidFill>
                <a:latin typeface="Malgun Gothic"/>
                <a:ea typeface="Malgun Gothic"/>
              </a:rPr>
              <a:t>●  </a:t>
            </a:r>
            <a:r>
              <a:rPr sz="1450" b="1">
                <a:solidFill>
                  <a:srgbClr val="16161F"/>
                </a:solidFill>
                <a:latin typeface="Malgun Gothic"/>
                <a:ea typeface="Malgun Gothic"/>
              </a:rPr>
              <a:t>예고 없는 등장</a:t>
            </a:r>
            <a:r>
              <a:rPr sz="1300" b="0">
                <a:solidFill>
                  <a:srgbClr val="5A5C69"/>
                </a:solidFill>
                <a:latin typeface="Malgun Gothic"/>
                <a:ea typeface="Malgun Gothic"/>
              </a:rPr>
              <a:t>   선배는 갑자기 나타난다. 0.3~0.7초의 반응 유예가 승부처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957" b="1">
                <a:solidFill>
                  <a:srgbClr val="E84E6E"/>
                </a:solidFill>
                <a:latin typeface="Malgun Gothic"/>
                <a:ea typeface="Malgun Gothic"/>
              </a:rPr>
              <a:t>●  </a:t>
            </a:r>
            <a:r>
              <a:rPr sz="1450" b="1">
                <a:solidFill>
                  <a:srgbClr val="16161F"/>
                </a:solidFill>
                <a:latin typeface="Malgun Gothic"/>
                <a:ea typeface="Malgun Gothic"/>
              </a:rPr>
              <a:t>눈치·운·리듬</a:t>
            </a:r>
            <a:r>
              <a:rPr sz="1300" b="0">
                <a:solidFill>
                  <a:srgbClr val="5A5C69"/>
                </a:solidFill>
                <a:latin typeface="Malgun Gothic"/>
                <a:ea typeface="Malgun Gothic"/>
              </a:rPr>
              <a:t>   견장 읽기, 박자 맞추기, 시야 피하기, 순수 도박까지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600200"/>
            <a:ext cx="4114800" cy="4480560"/>
          </a:xfrm>
          <a:prstGeom prst="roundRect">
            <a:avLst>
              <a:gd name="adj" fmla="val 4500"/>
            </a:avLst>
          </a:prstGeom>
          <a:solidFill>
            <a:srgbClr val="F4F2EC"/>
          </a:solidFill>
          <a:ln w="19050">
            <a:solidFill>
              <a:srgbClr val="16161F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18288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2E5A8C"/>
                </a:solidFill>
                <a:latin typeface="Malgun Gothic"/>
                <a:ea typeface="Malgun Gothic"/>
              </a:rPr>
              <a:t>한눈에 보기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2286000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0" y="2286000"/>
            <a:ext cx="9601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Malgun Gothic"/>
                <a:ea typeface="Malgun Gothic"/>
              </a:rPr>
              <a:t>장르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267712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6161F"/>
                </a:solidFill>
                <a:latin typeface="Malgun Gothic"/>
                <a:ea typeface="Malgun Gothic"/>
              </a:rPr>
              <a:t>탐지 회피 + 반응 · 리듬 · 운빨 미니게임 모음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2898648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2898648"/>
            <a:ext cx="9601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Malgun Gothic"/>
                <a:ea typeface="Malgun Gothic"/>
              </a:rPr>
              <a:t>플랫폼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288036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6161F"/>
                </a:solidFill>
                <a:latin typeface="Malgun Gothic"/>
                <a:ea typeface="Malgun Gothic"/>
              </a:rPr>
              <a:t>모바일 웹 PWA · 세로 모드 고정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3511296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3511296"/>
            <a:ext cx="9601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Malgun Gothic"/>
                <a:ea typeface="Malgun Gothic"/>
              </a:rPr>
              <a:t>아트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3493008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6161F"/>
                </a:solidFill>
                <a:latin typeface="Malgun Gothic"/>
                <a:ea typeface="Malgun Gothic"/>
              </a:rPr>
              <a:t>‘엄마는 게임을 숨겼다’ 톤 손그림체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60" y="4123944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0" y="4123944"/>
            <a:ext cx="9601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Malgun Gothic"/>
                <a:ea typeface="Malgun Gothic"/>
              </a:rPr>
              <a:t>점수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4105656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6161F"/>
                </a:solidFill>
                <a:latin typeface="Malgun Gothic"/>
                <a:ea typeface="Malgun Gothic"/>
              </a:rPr>
              <a:t>생존 일수 (동률이면 오래 버틴 순)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0" y="473659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0" y="4736592"/>
            <a:ext cx="9601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Malgun Gothic"/>
                <a:ea typeface="Malgun Gothic"/>
              </a:rPr>
              <a:t>한 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4718304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6161F"/>
                </a:solidFill>
                <a:latin typeface="Malgun Gothic"/>
                <a:ea typeface="Malgun Gothic"/>
              </a:rPr>
              <a:t>메인 퀘스트 1개 ≈ 10~20초, 짧고 굵게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80960" y="5349240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0" y="5349240"/>
            <a:ext cx="9601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Malgun Gothic"/>
                <a:ea typeface="Malgun Gothic"/>
              </a:rPr>
              <a:t>결과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5330952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6161F"/>
                </a:solidFill>
                <a:latin typeface="Malgun Gothic"/>
                <a:ea typeface="Malgun Gothic"/>
              </a:rPr>
              <a:t>게임 오버 시 온라인 리더보드에 등록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YGT 2025 · 공군사관학교 2학년 생도 서바이벌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39FE0"/>
                </a:solidFill>
                <a:latin typeface="Malgun Gothic"/>
                <a:ea typeface="Malgun Gothic"/>
              </a:rPr>
              <a:t>CORE LOOP · 게임의 하루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61F"/>
                </a:solidFill>
                <a:latin typeface="Malgun Gothic"/>
                <a:ea typeface="Malgun Gothic"/>
              </a:rPr>
              <a:t>하루에 메인 퀘스트 하나 — 성공하면 내일, 걸리면 리더보드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2331720" cy="1234440"/>
          </a:xfrm>
          <a:prstGeom prst="roundRect">
            <a:avLst>
              <a:gd name="adj" fmla="val 12000"/>
            </a:avLst>
          </a:prstGeom>
          <a:solidFill>
            <a:srgbClr val="2E5A8C"/>
          </a:solidFill>
          <a:ln>
            <a:noFill/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020824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① N일차 아침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423160"/>
            <a:ext cx="211226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4F2EC"/>
                </a:solidFill>
                <a:latin typeface="Malgun Gothic"/>
                <a:ea typeface="Malgun Gothic"/>
              </a:rPr>
              <a:t>HP 100 리셋
오늘의 퀘스트 배정</a:t>
            </a:r>
          </a:p>
        </p:txBody>
      </p:sp>
      <p:sp>
        <p:nvSpPr>
          <p:cNvPr id="10" name="Chevron 9"/>
          <p:cNvSpPr/>
          <p:nvPr/>
        </p:nvSpPr>
        <p:spPr>
          <a:xfrm>
            <a:off x="3127248" y="2286000"/>
            <a:ext cx="457200" cy="411480"/>
          </a:xfrm>
          <a:prstGeom prst="chevron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1874519"/>
            <a:ext cx="2331720" cy="1234440"/>
          </a:xfrm>
          <a:prstGeom prst="roundRect">
            <a:avLst>
              <a:gd name="adj" fmla="val 12000"/>
            </a:avLst>
          </a:prstGeom>
          <a:solidFill>
            <a:srgbClr val="539FE0"/>
          </a:solidFill>
          <a:ln>
            <a:noFill/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2020824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② 메인 퀘스트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13048" y="2423160"/>
            <a:ext cx="211226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4F2EC"/>
                </a:solidFill>
                <a:latin typeface="Malgun Gothic"/>
                <a:ea typeface="Malgun Gothic"/>
              </a:rPr>
              <a:t>샤워·복도·전자레인지
·태권도·벽치기 중 1</a:t>
            </a:r>
          </a:p>
        </p:txBody>
      </p:sp>
      <p:sp>
        <p:nvSpPr>
          <p:cNvPr id="14" name="Chevron 13"/>
          <p:cNvSpPr/>
          <p:nvPr/>
        </p:nvSpPr>
        <p:spPr>
          <a:xfrm>
            <a:off x="6144768" y="2286000"/>
            <a:ext cx="457200" cy="411480"/>
          </a:xfrm>
          <a:prstGeom prst="chevron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20840" y="1874519"/>
            <a:ext cx="2331720" cy="1234440"/>
          </a:xfrm>
          <a:prstGeom prst="roundRect">
            <a:avLst>
              <a:gd name="adj" fmla="val 12000"/>
            </a:avLst>
          </a:prstGeom>
          <a:solidFill>
            <a:srgbClr val="2FB892"/>
          </a:solidFill>
          <a:ln>
            <a:noFill/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2020824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③ 성공!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0568" y="2423160"/>
            <a:ext cx="211226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4F2EC"/>
                </a:solidFill>
                <a:latin typeface="Malgun Gothic"/>
                <a:ea typeface="Malgun Gothic"/>
              </a:rPr>
              <a:t>일수 +1
→ 다음 날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246120"/>
            <a:ext cx="8366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FB892"/>
                </a:solidFill>
                <a:latin typeface="Malgun Gothic"/>
                <a:ea typeface="Malgun Gothic"/>
              </a:rPr>
              <a:t>↑  성공하면 ①로 돌아가 계속 — 버틴 날이 곧 점수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72600" y="1828799"/>
            <a:ext cx="2148840" cy="1371600"/>
          </a:xfrm>
          <a:prstGeom prst="roundRect">
            <a:avLst>
              <a:gd name="adj" fmla="val 9000"/>
            </a:avLst>
          </a:prstGeom>
          <a:solidFill>
            <a:srgbClr val="F4F2EC"/>
          </a:solidFill>
          <a:ln w="25400">
            <a:solidFill>
              <a:srgbClr val="F2B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1947672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2B83E"/>
                </a:solidFill>
                <a:latin typeface="Malgun Gothic"/>
                <a:ea typeface="Malgun Gothic"/>
              </a:rPr>
              <a:t>📳 돌발 미니 퀘스트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2331720"/>
            <a:ext cx="18745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6161F"/>
                </a:solidFill>
                <a:latin typeface="Malgun Gothic"/>
                <a:ea typeface="Malgun Gothic"/>
              </a:rPr>
              <a:t>메인 퀘 도중 무작위 난입.
일수↑일수록 자주 등장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03320" y="3794760"/>
            <a:ext cx="2331720" cy="1051560"/>
          </a:xfrm>
          <a:prstGeom prst="roundRect">
            <a:avLst>
              <a:gd name="adj" fmla="val 12000"/>
            </a:avLst>
          </a:prstGeom>
          <a:solidFill>
            <a:srgbClr val="E84E6E"/>
          </a:solidFill>
          <a:ln>
            <a:noFill/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03320" y="3941064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✕ 실패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3048" y="4343400"/>
            <a:ext cx="2112263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4F2EC"/>
                </a:solidFill>
                <a:latin typeface="Malgun Gothic"/>
                <a:ea typeface="Malgun Gothic"/>
              </a:rPr>
              <a:t>발각 · HP 0
· 미니 퀘 실패</a:t>
            </a:r>
          </a:p>
        </p:txBody>
      </p:sp>
      <p:sp>
        <p:nvSpPr>
          <p:cNvPr id="25" name="Chevron 24"/>
          <p:cNvSpPr/>
          <p:nvPr/>
        </p:nvSpPr>
        <p:spPr>
          <a:xfrm>
            <a:off x="6144768" y="4114800"/>
            <a:ext cx="457200" cy="411480"/>
          </a:xfrm>
          <a:prstGeom prst="chevron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720840" y="3794760"/>
            <a:ext cx="2331720" cy="1051560"/>
          </a:xfrm>
          <a:prstGeom prst="roundRect">
            <a:avLst>
              <a:gd name="adj" fmla="val 12000"/>
            </a:avLst>
          </a:prstGeom>
          <a:solidFill>
            <a:srgbClr val="16161F"/>
          </a:solidFill>
          <a:ln>
            <a:noFill/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3941064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게임 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4343400"/>
            <a:ext cx="2112263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9BCCC"/>
                </a:solidFill>
                <a:latin typeface="Malgun Gothic"/>
                <a:ea typeface="Malgun Gothic"/>
              </a:rPr>
              <a:t>생존 일수 기록
리더보드 등록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3886200"/>
            <a:ext cx="26517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5C69"/>
                </a:solidFill>
                <a:latin typeface="Malgun Gothic"/>
                <a:ea typeface="Malgun Gothic"/>
              </a:rPr>
              <a:t>목숨(하트)이 남아 있으면
1칸 소모하고 같은 날 부활</a:t>
            </a:r>
          </a:p>
        </p:txBody>
      </p:sp>
      <p:sp>
        <p:nvSpPr>
          <p:cNvPr id="30" name="Chevron 29"/>
          <p:cNvSpPr/>
          <p:nvPr/>
        </p:nvSpPr>
        <p:spPr>
          <a:xfrm rot="10800000">
            <a:off x="3346704" y="4114800"/>
            <a:ext cx="384048" cy="411480"/>
          </a:xfrm>
          <a:prstGeom prst="chevron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85800" y="5212080"/>
            <a:ext cx="10835640" cy="868680"/>
          </a:xfrm>
          <a:prstGeom prst="roundRect">
            <a:avLst>
              <a:gd name="adj" fmla="val 10000"/>
            </a:avLst>
          </a:prstGeom>
          <a:solidFill>
            <a:srgbClr val="26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321808"/>
            <a:ext cx="103327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2B83E"/>
                </a:solidFill>
                <a:latin typeface="Malgun Gothic"/>
                <a:ea typeface="Malgun Gothic"/>
              </a:rPr>
              <a:t>점수 = 생존 일수. </a:t>
            </a:r>
            <a:r>
              <a:rPr sz="1400" b="0">
                <a:solidFill>
                  <a:srgbClr val="F4F2EC"/>
                </a:solidFill>
                <a:latin typeface="Malgun Gothic"/>
                <a:ea typeface="Malgun Gothic"/>
              </a:rPr>
              <a:t>같은 일차라면 </a:t>
            </a:r>
            <a:r>
              <a:rPr sz="1400" b="1">
                <a:solidFill>
                  <a:srgbClr val="FFFFFF"/>
                </a:solidFill>
                <a:latin typeface="Malgun Gothic"/>
                <a:ea typeface="Malgun Gothic"/>
              </a:rPr>
              <a:t>“더 오래 버틴 쪽”</a:t>
            </a:r>
            <a:r>
              <a:rPr sz="1400" b="0">
                <a:solidFill>
                  <a:srgbClr val="B9BCCC"/>
                </a:solidFill>
                <a:latin typeface="Malgun Gothic"/>
                <a:ea typeface="Malgun Gothic"/>
              </a:rPr>
              <a:t>이 상위 — 예) 7일차 15초  &gt;  7일차 14초  &gt;  6일차 15초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YGT 2025 · 공군사관학교 2학년 생도 서바이벌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e8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e84e6e"/>
                </a:solidFill>
                <a:latin typeface="맑은 고딕"/>
                <a:ea typeface="맑은 고딕"/>
              </a:rPr>
              <a:t>MAIN QUESTS · 메인 퀘스트</a:t>
            </a:r>
            <a:endParaRPr sz="1300" b="1">
              <a:solidFill>
                <a:srgbClr val="e84e6e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3000" b="1">
                <a:solidFill>
                  <a:srgbClr val="16161f"/>
                </a:solidFill>
                <a:latin typeface="맑은 고딕"/>
                <a:ea typeface="맑은 고딕"/>
              </a:rPr>
              <a:t>매일 하나씩 주어지는 5종의 서바이벌</a:t>
            </a:r>
            <a:endParaRPr sz="300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" y="1691640"/>
            <a:ext cx="2084831" cy="1965960"/>
          </a:xfrm>
          <a:prstGeom prst="roundRect">
            <a:avLst>
              <a:gd name="adj" fmla="val 7000"/>
            </a:avLst>
          </a:prstGeom>
          <a:solidFill>
            <a:srgbClr val="f4f2ec"/>
          </a:solidFill>
          <a:ln w="1905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8" name="Rounded Rectangle 7"/>
          <p:cNvSpPr/>
          <p:nvPr/>
        </p:nvSpPr>
        <p:spPr>
          <a:xfrm>
            <a:off x="658368" y="1691640"/>
            <a:ext cx="2084831" cy="128016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208483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3400" b="0">
                <a:solidFill>
                  <a:srgbClr val="16161f"/>
                </a:solidFill>
                <a:latin typeface="맑은 고딕"/>
                <a:ea typeface="맑은 고딕"/>
              </a:rPr>
              <a:t>🚿</a:t>
            </a:r>
            <a:endParaRPr sz="3400" b="0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68096" y="2542032"/>
            <a:ext cx="186537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50" b="1">
                <a:solidFill>
                  <a:srgbClr val="16161f"/>
                </a:solidFill>
                <a:latin typeface="맑은 고딕"/>
                <a:ea typeface="맑은 고딕"/>
              </a:rPr>
              <a:t>Q1 · 샤워장 노래</a:t>
            </a:r>
            <a:endParaRPr sz="135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86384" y="2971800"/>
            <a:ext cx="1828799" cy="390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lang="ko-KR" altLang="en-US" sz="1100" b="0">
                <a:solidFill>
                  <a:srgbClr val="5a5c69"/>
                </a:solidFill>
                <a:latin typeface="맑은 고딕"/>
                <a:ea typeface="맑은 고딕"/>
              </a:rPr>
              <a:t>노래 틀고 씻다가 </a:t>
            </a: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선배가</a:t>
            </a:r>
            <a:r>
              <a:rPr lang="ko-KR" altLang="en-US" sz="1100" b="0">
                <a:solidFill>
                  <a:srgbClr val="5a5c69"/>
                </a:solidFill>
                <a:latin typeface="맑은 고딕"/>
                <a:ea typeface="맑은 고딕"/>
              </a:rPr>
              <a:t> </a:t>
            </a: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나타나면</a:t>
            </a:r>
            <a:r>
              <a:rPr lang="ko-KR" altLang="en-US" sz="1100" b="0">
                <a:solidFill>
                  <a:srgbClr val="5a5c69"/>
                </a:solidFill>
                <a:latin typeface="맑은 고딕"/>
                <a:ea typeface="맑은 고딕"/>
              </a:rPr>
              <a:t> 노래를 멈춘다</a:t>
            </a:r>
            <a:r>
              <a:rPr lang="en-US" altLang="ko-KR" sz="1100" b="0">
                <a:solidFill>
                  <a:srgbClr val="5a5c69"/>
                </a:solidFill>
                <a:latin typeface="맑은 고딕"/>
                <a:ea typeface="맑은 고딕"/>
              </a:rPr>
              <a:t>.</a:t>
            </a:r>
            <a:endParaRPr lang="en-US" altLang="ko-KR" sz="11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880359" y="1691640"/>
            <a:ext cx="2084831" cy="1965960"/>
          </a:xfrm>
          <a:prstGeom prst="roundRect">
            <a:avLst>
              <a:gd name="adj" fmla="val 7000"/>
            </a:avLst>
          </a:prstGeom>
          <a:solidFill>
            <a:srgbClr val="f4f2ec"/>
          </a:solidFill>
          <a:ln w="1905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3" name="Rounded Rectangle 12"/>
          <p:cNvSpPr/>
          <p:nvPr/>
        </p:nvSpPr>
        <p:spPr>
          <a:xfrm>
            <a:off x="2880359" y="1691640"/>
            <a:ext cx="2084831" cy="128016"/>
          </a:xfrm>
          <a:prstGeom prst="roundRect">
            <a:avLst>
              <a:gd name="adj" fmla="val 50000"/>
            </a:avLst>
          </a:prstGeom>
          <a:solidFill>
            <a:srgbClr val="2fb8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880359" y="1874519"/>
            <a:ext cx="208483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endParaRPr sz="3400" b="0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990087" y="2542032"/>
            <a:ext cx="186537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50" b="1">
                <a:solidFill>
                  <a:srgbClr val="16161f"/>
                </a:solidFill>
                <a:latin typeface="맑은 고딕"/>
                <a:ea typeface="맑은 고딕"/>
              </a:rPr>
              <a:t>Q2 · 복도 인사·경례</a:t>
            </a:r>
            <a:endParaRPr sz="135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008375" y="2971800"/>
            <a:ext cx="18287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다가오는 상대의 견장을 읽어</a:t>
            </a:r>
            <a:endParaRPr sz="110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1·2줄=인사 / 3줄=경례</a:t>
            </a:r>
            <a:endParaRPr sz="11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102351" y="1691640"/>
            <a:ext cx="2084831" cy="1965960"/>
          </a:xfrm>
          <a:prstGeom prst="roundRect">
            <a:avLst>
              <a:gd name="adj" fmla="val 7000"/>
            </a:avLst>
          </a:prstGeom>
          <a:solidFill>
            <a:srgbClr val="f4f2ec"/>
          </a:solidFill>
          <a:ln w="1905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8" name="Rounded Rectangle 17"/>
          <p:cNvSpPr/>
          <p:nvPr/>
        </p:nvSpPr>
        <p:spPr>
          <a:xfrm>
            <a:off x="5102351" y="1691640"/>
            <a:ext cx="2084831" cy="128016"/>
          </a:xfrm>
          <a:prstGeom prst="roundRect">
            <a:avLst>
              <a:gd name="adj" fmla="val 50000"/>
            </a:avLst>
          </a:prstGeom>
          <a:solidFill>
            <a:srgbClr val="f2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9" name="TextBox 18"/>
          <p:cNvSpPr txBox="1"/>
          <p:nvPr/>
        </p:nvSpPr>
        <p:spPr>
          <a:xfrm>
            <a:off x="5102351" y="1874519"/>
            <a:ext cx="208483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3400" b="0">
                <a:solidFill>
                  <a:srgbClr val="16161f"/>
                </a:solidFill>
                <a:latin typeface="맑은 고딕"/>
                <a:ea typeface="맑은 고딕"/>
              </a:rPr>
              <a:t>🍜</a:t>
            </a:r>
            <a:endParaRPr sz="3400" b="0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212079" y="2542032"/>
            <a:ext cx="18653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50" b="1">
                <a:solidFill>
                  <a:srgbClr val="16161f"/>
                </a:solidFill>
                <a:latin typeface="맑은 고딕"/>
                <a:ea typeface="맑은 고딕"/>
              </a:rPr>
              <a:t>Q3 · </a:t>
            </a:r>
            <a:r>
              <a:rPr lang="ko-KR" altLang="en-US" sz="1350" b="1">
                <a:solidFill>
                  <a:srgbClr val="16161f"/>
                </a:solidFill>
                <a:latin typeface="맑은 고딕"/>
                <a:ea typeface="맑은 고딕"/>
              </a:rPr>
              <a:t>완소전 </a:t>
            </a:r>
            <a:r>
              <a:rPr sz="1350" b="1">
                <a:solidFill>
                  <a:srgbClr val="16161f"/>
                </a:solidFill>
                <a:latin typeface="맑은 고딕"/>
                <a:ea typeface="맑은 고딕"/>
              </a:rPr>
              <a:t>전자레인지</a:t>
            </a:r>
            <a:endParaRPr sz="135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230367" y="2971800"/>
            <a:ext cx="1828799" cy="581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몰래 라면 조리. </a:t>
            </a:r>
            <a:r>
              <a:rPr lang="ko-KR" altLang="en-US" sz="1100" b="0">
                <a:solidFill>
                  <a:srgbClr val="5a5c69"/>
                </a:solidFill>
                <a:latin typeface="맑은 고딕"/>
                <a:ea typeface="맑은 고딕"/>
              </a:rPr>
              <a:t>훈육관</a:t>
            </a: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 오면 세탁실로</a:t>
            </a:r>
            <a:r>
              <a:rPr lang="ko-KR" altLang="en-US" sz="1100" b="0">
                <a:solidFill>
                  <a:srgbClr val="5a5c69"/>
                </a:solidFill>
                <a:latin typeface="맑은 고딕"/>
                <a:ea typeface="맑은 고딕"/>
              </a:rPr>
              <a:t> </a:t>
            </a: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숨고, 소등 전 100% 채우기</a:t>
            </a:r>
            <a:endParaRPr sz="11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324344" y="1691640"/>
            <a:ext cx="2084831" cy="1965960"/>
          </a:xfrm>
          <a:prstGeom prst="roundRect">
            <a:avLst>
              <a:gd name="adj" fmla="val 7000"/>
            </a:avLst>
          </a:prstGeom>
          <a:solidFill>
            <a:srgbClr val="f4f2ec"/>
          </a:solidFill>
          <a:ln w="1905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3" name="Rounded Rectangle 22"/>
          <p:cNvSpPr/>
          <p:nvPr/>
        </p:nvSpPr>
        <p:spPr>
          <a:xfrm>
            <a:off x="7324344" y="1691640"/>
            <a:ext cx="2084831" cy="128016"/>
          </a:xfrm>
          <a:prstGeom prst="roundRect">
            <a:avLst>
              <a:gd name="adj" fmla="val 50000"/>
            </a:avLst>
          </a:prstGeom>
          <a:solidFill>
            <a:srgbClr val="e8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7324344" y="1950719"/>
            <a:ext cx="2084831" cy="5067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3400" b="0">
                <a:solidFill>
                  <a:srgbClr val="16161f"/>
                </a:solidFill>
                <a:latin typeface="맑은 고딕"/>
                <a:ea typeface="맑은 고딕"/>
              </a:rPr>
              <a:t>🥋</a:t>
            </a:r>
            <a:endParaRPr sz="3400" b="0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434071" y="2542032"/>
            <a:ext cx="18653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50" b="1">
                <a:solidFill>
                  <a:srgbClr val="16161f"/>
                </a:solidFill>
                <a:latin typeface="맑은 고딕"/>
                <a:ea typeface="맑은 고딕"/>
              </a:rPr>
              <a:t>Q4 · 태권도장 </a:t>
            </a:r>
            <a:r>
              <a:rPr lang="ko-KR" altLang="en-US" sz="1350" b="1">
                <a:solidFill>
                  <a:srgbClr val="16161f"/>
                </a:solidFill>
                <a:latin typeface="맑은 고딕"/>
                <a:ea typeface="맑은 고딕"/>
              </a:rPr>
              <a:t>걸어가기</a:t>
            </a:r>
            <a:endParaRPr lang="ko-KR" altLang="en-US" sz="135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452360" y="2971800"/>
            <a:ext cx="1828799" cy="390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선배 시야(부채꼴)를 피해 </a:t>
            </a:r>
            <a:r>
              <a:rPr lang="ko-KR" altLang="en-US" sz="1100" b="0">
                <a:solidFill>
                  <a:srgbClr val="5a5c69"/>
                </a:solidFill>
                <a:latin typeface="맑은 고딕"/>
                <a:ea typeface="맑은 고딕"/>
              </a:rPr>
              <a:t>무도장까지 걸어서 </a:t>
            </a: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이동.</a:t>
            </a:r>
            <a:endParaRPr sz="11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9546336" y="1691640"/>
            <a:ext cx="2084831" cy="1965960"/>
          </a:xfrm>
          <a:prstGeom prst="roundRect">
            <a:avLst>
              <a:gd name="adj" fmla="val 7000"/>
            </a:avLst>
          </a:prstGeom>
          <a:solidFill>
            <a:srgbClr val="f4f2ec"/>
          </a:solidFill>
          <a:ln w="1905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8" name="Rounded Rectangle 27"/>
          <p:cNvSpPr/>
          <p:nvPr/>
        </p:nvSpPr>
        <p:spPr>
          <a:xfrm>
            <a:off x="9546336" y="1691640"/>
            <a:ext cx="2084831" cy="128016"/>
          </a:xfrm>
          <a:prstGeom prst="roundRect">
            <a:avLst>
              <a:gd name="adj" fmla="val 50000"/>
            </a:avLst>
          </a:prstGeom>
          <a:solidFill>
            <a:srgbClr val="2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9546336" y="1874519"/>
            <a:ext cx="208483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3400" b="0">
                <a:solidFill>
                  <a:srgbClr val="16161f"/>
                </a:solidFill>
                <a:latin typeface="맑은 고딕"/>
                <a:ea typeface="맑은 고딕"/>
              </a:rPr>
              <a:t>💥</a:t>
            </a:r>
            <a:endParaRPr sz="3400" b="0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656063" y="2542032"/>
            <a:ext cx="18653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50" b="1">
                <a:solidFill>
                  <a:srgbClr val="16161f"/>
                </a:solidFill>
                <a:latin typeface="맑은 고딕"/>
                <a:ea typeface="맑은 고딕"/>
              </a:rPr>
              <a:t>Q5 · </a:t>
            </a:r>
            <a:r>
              <a:rPr lang="ko-KR" altLang="en-US" sz="1350" b="1">
                <a:solidFill>
                  <a:srgbClr val="16161f"/>
                </a:solidFill>
                <a:latin typeface="맑은 고딕"/>
                <a:ea typeface="맑은 고딕"/>
              </a:rPr>
              <a:t>옆방 </a:t>
            </a:r>
            <a:r>
              <a:rPr sz="1350" b="1">
                <a:solidFill>
                  <a:srgbClr val="16161f"/>
                </a:solidFill>
                <a:latin typeface="맑은 고딕"/>
                <a:ea typeface="맑은 고딕"/>
              </a:rPr>
              <a:t>벽치기</a:t>
            </a:r>
            <a:endParaRPr sz="135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674352" y="2971800"/>
            <a:ext cx="1828799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박자에 맞춰 </a:t>
            </a:r>
            <a:r>
              <a:rPr lang="ko-KR" altLang="en-US" sz="1100" b="0">
                <a:solidFill>
                  <a:srgbClr val="5a5c69"/>
                </a:solidFill>
                <a:latin typeface="맑은 고딕"/>
                <a:ea typeface="맑은 고딕"/>
              </a:rPr>
              <a:t>버튼을</a:t>
            </a: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 탭.</a:t>
            </a:r>
            <a:endParaRPr sz="110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미스 3번=발각 · 노미스=하트+1</a:t>
            </a:r>
            <a:endParaRPr sz="11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58368" y="3977639"/>
            <a:ext cx="10881360" cy="1874519"/>
          </a:xfrm>
          <a:prstGeom prst="roundRect">
            <a:avLst>
              <a:gd name="adj" fmla="val 5000"/>
            </a:avLst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3" name="TextBox 32"/>
          <p:cNvSpPr txBox="1"/>
          <p:nvPr/>
        </p:nvSpPr>
        <p:spPr>
          <a:xfrm>
            <a:off x="1005840" y="4160520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500" b="1">
                <a:solidFill>
                  <a:srgbClr val="f2b83e"/>
                </a:solidFill>
                <a:latin typeface="맑은 고딕"/>
                <a:ea typeface="맑은 고딕"/>
              </a:rPr>
              <a:t>5종 공통 설계 원칙</a:t>
            </a:r>
            <a:endParaRPr sz="1500" b="1">
              <a:solidFill>
                <a:srgbClr val="f2b83e"/>
              </a:solidFill>
              <a:latin typeface="맑은 고딕"/>
              <a:ea typeface="맑은 고딕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005840" y="4617720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•  짧고 굵게  </a:t>
            </a:r>
            <a:r>
              <a:rPr sz="1200" b="0">
                <a:solidFill>
                  <a:srgbClr val="b9bccc"/>
                </a:solidFill>
                <a:latin typeface="맑은 고딕"/>
                <a:ea typeface="맑은 고딕"/>
              </a:rPr>
              <a:t>한 판 10~20초. 리듬을 끊지 않도록 인트로도 자동 진행</a:t>
            </a:r>
            <a:endParaRPr sz="1200" b="0">
              <a:solidFill>
                <a:srgbClr val="b9bccc"/>
              </a:solidFill>
              <a:latin typeface="맑은 고딕"/>
              <a:ea typeface="맑은 고딕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355079" y="4617720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•  예고 없는 등장  </a:t>
            </a:r>
            <a:r>
              <a:rPr sz="1200" b="0">
                <a:solidFill>
                  <a:srgbClr val="b9bccc"/>
                </a:solidFill>
                <a:latin typeface="맑은 고딕"/>
                <a:ea typeface="맑은 고딕"/>
              </a:rPr>
              <a:t>경고 게이지 없음. 여러 지점(양쪽 문·커튼·복도) 중 무작위</a:t>
            </a:r>
            <a:endParaRPr sz="1200" b="0">
              <a:solidFill>
                <a:srgbClr val="b9bccc"/>
              </a:solidFill>
              <a:latin typeface="맑은 고딕"/>
              <a:ea typeface="맑은 고딕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005840" y="5212080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•  반응 유예  </a:t>
            </a:r>
            <a:r>
              <a:rPr sz="1200" b="0">
                <a:solidFill>
                  <a:srgbClr val="b9bccc"/>
                </a:solidFill>
                <a:latin typeface="맑은 고딕"/>
                <a:ea typeface="맑은 고딕"/>
              </a:rPr>
              <a:t>등장 순간부터 0.26~0.76초 안에 올바른 대응 — 반응속도 테스트</a:t>
            </a:r>
            <a:endParaRPr sz="1200" b="0">
              <a:solidFill>
                <a:srgbClr val="b9bccc"/>
              </a:solidFill>
              <a:latin typeface="맑은 고딕"/>
              <a:ea typeface="맑은 고딕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355079" y="5212080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•  공정성 보정  </a:t>
            </a:r>
            <a:r>
              <a:rPr sz="1200" b="0">
                <a:solidFill>
                  <a:srgbClr val="b9bccc"/>
                </a:solidFill>
                <a:latin typeface="맑은 고딕"/>
                <a:ea typeface="맑은 고딕"/>
              </a:rPr>
              <a:t>조우 사이 최소 회복시간·시야 점유율 상한으로 ‘운빨 사망’ 차단</a:t>
            </a:r>
            <a:endParaRPr sz="1200" b="0">
              <a:solidFill>
                <a:srgbClr val="b9bccc"/>
              </a:solidFill>
              <a:latin typeface="맑은 고딕"/>
              <a:ea typeface="맑은 고딕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YGT 2025 · 공군사관학교 2학년 생도 서바이벌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04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pic>
        <p:nvPicPr>
          <p:cNvPr id="40" name="Picture 39" descr="salute_icon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678809" y="1920240"/>
            <a:ext cx="487929" cy="5486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539fe0"/>
                </a:solidFill>
                <a:latin typeface="맑은 고딕"/>
                <a:ea typeface="맑은 고딕"/>
              </a:rPr>
              <a:t>MAIN QUEST 1 · 🚿</a:t>
            </a:r>
            <a:endParaRPr sz="1300" b="1">
              <a:solidFill>
                <a:srgbClr val="539fe0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3000" b="1">
                <a:solidFill>
                  <a:srgbClr val="16161f"/>
                </a:solidFill>
                <a:latin typeface="맑은 고딕"/>
                <a:ea typeface="맑은 고딕"/>
              </a:rPr>
              <a:t>샤워장에서 몰래 노래 틀기</a:t>
            </a:r>
            <a:endParaRPr sz="300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188737" y="1399032"/>
            <a:ext cx="2916364" cy="50566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7940">
            <a:solidFill>
              <a:srgbClr val="16161f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pic>
        <p:nvPicPr>
          <p:cNvPr id="8" name="Picture 7" descr="04_shower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271033" y="1481328"/>
            <a:ext cx="2751772" cy="48920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818441" y="2112264"/>
            <a:ext cx="2170557" cy="37307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7940">
            <a:solidFill>
              <a:srgbClr val="16161f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pic>
        <p:nvPicPr>
          <p:cNvPr id="10" name="Picture 9" descr="04b_shower_sing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900737" y="2194560"/>
            <a:ext cx="2005965" cy="3566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6112" y="1572768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600" b="1">
                <a:solidFill>
                  <a:srgbClr val="539fe0"/>
                </a:solidFill>
                <a:latin typeface="맑은 고딕"/>
                <a:ea typeface="맑은 고딕"/>
              </a:rPr>
              <a:t>플레이 방법</a:t>
            </a:r>
            <a:endParaRPr sz="1600" b="1">
              <a:solidFill>
                <a:srgbClr val="539fe0"/>
              </a:solidFill>
              <a:latin typeface="맑은 고딕"/>
              <a:ea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96112" y="2057400"/>
            <a:ext cx="4892040" cy="1819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/>
            </a:pPr>
            <a:r>
              <a:rPr sz="989" b="1">
                <a:solidFill>
                  <a:srgbClr val="539fe0"/>
                </a:solidFill>
                <a:latin typeface="맑은 고딕"/>
                <a:ea typeface="맑은 고딕"/>
              </a:rPr>
              <a:t>●  </a:t>
            </a: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노래는 기본 재생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  제한된 샤워 시간 안에 노래를 100%까지 재생하면 성공</a:t>
            </a:r>
            <a:endParaRPr sz="135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/>
            </a:pPr>
            <a:r>
              <a:rPr sz="989" b="1">
                <a:solidFill>
                  <a:srgbClr val="539fe0"/>
                </a:solidFill>
                <a:latin typeface="맑은 고딕"/>
                <a:ea typeface="맑은 고딕"/>
              </a:rPr>
              <a:t>●  </a:t>
            </a:r>
            <a:r>
              <a:rPr lang="ko-KR" altLang="en-US" sz="1500" b="1">
                <a:solidFill>
                  <a:srgbClr val="16161f"/>
                </a:solidFill>
                <a:latin typeface="맑은 고딕"/>
                <a:ea typeface="맑은 고딕"/>
              </a:rPr>
              <a:t>버튼을 누르면 일시정지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  선배가 정문</a:t>
            </a:r>
            <a:r>
              <a:rPr lang="ko-KR" altLang="en-US" sz="1350" b="0">
                <a:solidFill>
                  <a:srgbClr val="5a5c69"/>
                </a:solidFill>
                <a:latin typeface="맑은 고딕"/>
                <a:ea typeface="맑은 고딕"/>
              </a:rPr>
              <a:t> 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·</a:t>
            </a:r>
            <a:r>
              <a:rPr lang="ko-KR" altLang="en-US" sz="1350" b="0">
                <a:solidFill>
                  <a:srgbClr val="5a5c69"/>
                </a:solidFill>
                <a:latin typeface="맑은 고딕"/>
                <a:ea typeface="맑은 고딕"/>
              </a:rPr>
              <a:t> 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옆칸 커튼에 등장하면 ⏸ 버튼을 꾹 — 손 떼면 다시 재생</a:t>
            </a:r>
            <a:endParaRPr sz="135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/>
            </a:pPr>
            <a:r>
              <a:rPr sz="989" b="1">
                <a:solidFill>
                  <a:srgbClr val="539fe0"/>
                </a:solidFill>
                <a:latin typeface="맑은 고딕"/>
                <a:ea typeface="맑은 고딕"/>
              </a:rPr>
              <a:t>●  </a:t>
            </a: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나갈 때까지 유지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  선배가 화면에 있는 동안 계속 홀드. 먼저 떼도 발각</a:t>
            </a:r>
            <a:endParaRPr sz="13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YGT 2025 · 공군사관학교 2학년 생도 서바이벌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05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2fb8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2fb892"/>
                </a:solidFill>
                <a:latin typeface="맑은 고딕"/>
                <a:ea typeface="맑은 고딕"/>
              </a:rPr>
              <a:t>MAIN QUEST 2 · 🫡</a:t>
            </a:r>
            <a:endParaRPr sz="1300" b="1">
              <a:solidFill>
                <a:srgbClr val="2fb892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449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3000" b="1">
                <a:solidFill>
                  <a:srgbClr val="16161f"/>
                </a:solidFill>
                <a:latin typeface="맑은 고딕"/>
                <a:ea typeface="맑은 고딕"/>
              </a:rPr>
              <a:t>복도에서 어깨 힘주고 인사받기</a:t>
            </a:r>
            <a:endParaRPr sz="300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188737" y="1399032"/>
            <a:ext cx="2916364" cy="50566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7940">
            <a:solidFill>
              <a:srgbClr val="16161f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pic>
        <p:nvPicPr>
          <p:cNvPr id="8" name="Picture 7" descr="03_hallway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271033" y="1481328"/>
            <a:ext cx="2751772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6112" y="1572768"/>
            <a:ext cx="6903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600" b="1">
                <a:solidFill>
                  <a:srgbClr val="2fb892"/>
                </a:solidFill>
                <a:latin typeface="맑은 고딕"/>
                <a:ea typeface="맑은 고딕"/>
              </a:rPr>
              <a:t>플레이 방법</a:t>
            </a:r>
            <a:endParaRPr sz="1600" b="1">
              <a:solidFill>
                <a:srgbClr val="2fb892"/>
              </a:solidFill>
              <a:latin typeface="맑은 고딕"/>
              <a:ea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96112" y="2057400"/>
            <a:ext cx="6903720" cy="1476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/>
            </a:pPr>
            <a:r>
              <a:rPr sz="989" b="1">
                <a:solidFill>
                  <a:srgbClr val="2fb892"/>
                </a:solidFill>
                <a:latin typeface="맑은 고딕"/>
                <a:ea typeface="맑은 고딕"/>
              </a:rPr>
              <a:t>●  </a:t>
            </a: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양옆 문에서 등장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  사람들이 </a:t>
            </a:r>
            <a:r>
              <a:rPr lang="ko-KR" altLang="en-US" sz="1350" b="0">
                <a:solidFill>
                  <a:srgbClr val="5a5c69"/>
                </a:solidFill>
                <a:latin typeface="맑은 고딕"/>
                <a:ea typeface="맑은 고딕"/>
              </a:rPr>
              <a:t>문에서 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나와 내 앞에 도착</a:t>
            </a:r>
            <a:endParaRPr sz="135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/>
            </a:pPr>
            <a:r>
              <a:rPr sz="989" b="1">
                <a:solidFill>
                  <a:srgbClr val="2fb892"/>
                </a:solidFill>
                <a:latin typeface="맑은 고딕"/>
                <a:ea typeface="맑은 고딕"/>
              </a:rPr>
              <a:t>●  </a:t>
            </a: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견장을 읽어라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  1줄 후배</a:t>
            </a:r>
            <a:r>
              <a:rPr lang="ko-KR" altLang="en-US" sz="1350" b="0">
                <a:solidFill>
                  <a:srgbClr val="5a5c69"/>
                </a:solidFill>
                <a:latin typeface="맑은 고딕"/>
                <a:ea typeface="맑은 고딕"/>
              </a:rPr>
              <a:t> 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·</a:t>
            </a:r>
            <a:r>
              <a:rPr lang="ko-KR" altLang="en-US" sz="1350" b="0">
                <a:solidFill>
                  <a:srgbClr val="5a5c69"/>
                </a:solidFill>
                <a:latin typeface="맑은 고딕"/>
                <a:ea typeface="맑은 고딕"/>
              </a:rPr>
              <a:t> 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2줄 동기 →  인사 / 3줄 선배 →</a:t>
            </a:r>
            <a:r>
              <a:rPr lang="ko-KR" altLang="en-US" sz="1350" b="0">
                <a:solidFill>
                  <a:srgbClr val="5a5c69"/>
                </a:solidFill>
                <a:latin typeface="맑은 고딕"/>
                <a:ea typeface="맑은 고딕"/>
              </a:rPr>
              <a:t> 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경례</a:t>
            </a:r>
            <a:endParaRPr sz="135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/>
            </a:pPr>
            <a:r>
              <a:rPr sz="989" b="1">
                <a:solidFill>
                  <a:srgbClr val="2fb892"/>
                </a:solidFill>
                <a:latin typeface="맑은 고딕"/>
                <a:ea typeface="맑은 고딕"/>
              </a:rPr>
              <a:t>●  </a:t>
            </a: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박자 판정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  도착하는 박자 ±판정창 안에 올바른 응대를 눌러야 성공</a:t>
            </a:r>
            <a:endParaRPr sz="135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/>
            </a:pPr>
            <a:r>
              <a:rPr sz="989" b="1">
                <a:solidFill>
                  <a:srgbClr val="2fb892"/>
                </a:solidFill>
                <a:latin typeface="맑은 고딕"/>
                <a:ea typeface="맑은 고딕"/>
              </a:rPr>
              <a:t>●  </a:t>
            </a: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치명적 실수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  선배에게 늦게 경례 = 즉시 게임 오버.</a:t>
            </a:r>
            <a:endParaRPr sz="13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YGT 2025 · 공군사관학교 2학년 생도 서바이벌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06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f2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f2b83e"/>
                </a:solidFill>
                <a:latin typeface="맑은 고딕"/>
                <a:ea typeface="맑은 고딕"/>
              </a:rPr>
              <a:t>MAIN QUEST 3 · 🍜</a:t>
            </a:r>
            <a:endParaRPr sz="1300" b="1">
              <a:solidFill>
                <a:srgbClr val="f2b83e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449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lang="ko-KR" altLang="en-US" sz="3000" b="1">
                <a:solidFill>
                  <a:srgbClr val="16161f"/>
                </a:solidFill>
                <a:latin typeface="맑은 고딕"/>
                <a:ea typeface="맑은 고딕"/>
              </a:rPr>
              <a:t>완전소등 직전 </a:t>
            </a:r>
            <a:r>
              <a:rPr sz="3000" b="1">
                <a:solidFill>
                  <a:srgbClr val="16161f"/>
                </a:solidFill>
                <a:latin typeface="맑은 고딕"/>
                <a:ea typeface="맑은 고딕"/>
              </a:rPr>
              <a:t>전자레인지 돌리기</a:t>
            </a:r>
            <a:endParaRPr sz="300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188737" y="1399032"/>
            <a:ext cx="2916364" cy="50566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7940">
            <a:solidFill>
              <a:srgbClr val="16161f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pic>
        <p:nvPicPr>
          <p:cNvPr id="8" name="Picture 7" descr="05_microwave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271033" y="1481328"/>
            <a:ext cx="2751772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6112" y="1572768"/>
            <a:ext cx="6903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600" b="1">
                <a:solidFill>
                  <a:srgbClr val="f2b83e"/>
                </a:solidFill>
                <a:latin typeface="맑은 고딕"/>
                <a:ea typeface="맑은 고딕"/>
              </a:rPr>
              <a:t>플레이 방법</a:t>
            </a:r>
            <a:endParaRPr sz="1600" b="1">
              <a:solidFill>
                <a:srgbClr val="f2b83e"/>
              </a:solidFill>
              <a:latin typeface="맑은 고딕"/>
              <a:ea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96112" y="2057400"/>
            <a:ext cx="6903720" cy="10763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/>
            </a:pPr>
            <a:r>
              <a:rPr sz="989" b="1">
                <a:solidFill>
                  <a:srgbClr val="f2b83e"/>
                </a:solidFill>
                <a:latin typeface="맑은 고딕"/>
                <a:ea typeface="맑은 고딕"/>
              </a:rPr>
              <a:t>●  </a:t>
            </a: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조리 게이지 채우기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  전자레인지 앞에 있을 때만 조리 게이지가 오른다</a:t>
            </a:r>
            <a:endParaRPr sz="135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/>
            </a:pPr>
            <a:r>
              <a:rPr sz="989" b="1">
                <a:solidFill>
                  <a:srgbClr val="f2b83e"/>
                </a:solidFill>
                <a:latin typeface="맑은 고딕"/>
                <a:ea typeface="맑은 고딕"/>
              </a:rPr>
              <a:t>●  </a:t>
            </a: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세탁실은 은신처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  무작위로 </a:t>
            </a:r>
            <a:r>
              <a:rPr lang="ko-KR" altLang="en-US" sz="1350" b="0">
                <a:solidFill>
                  <a:srgbClr val="5a5c69"/>
                </a:solidFill>
                <a:latin typeface="맑은 고딕"/>
                <a:ea typeface="맑은 고딕"/>
              </a:rPr>
              <a:t>훈육관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등장 → 버튼을 눌러 숨기</a:t>
            </a:r>
            <a:endParaRPr sz="135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/>
            </a:pPr>
            <a:r>
              <a:rPr sz="989" b="1">
                <a:solidFill>
                  <a:srgbClr val="f2b83e"/>
                </a:solidFill>
                <a:latin typeface="맑은 고딕"/>
                <a:ea typeface="맑은 고딕"/>
              </a:rPr>
              <a:t>●  </a:t>
            </a: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소등 전 완료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  완전 소등 타이머가 끝나기 전에 조리를 마쳐야 한다</a:t>
            </a:r>
            <a:endParaRPr sz="13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YGT 2025 · 공군사관학교 2학년 생도 서바이벌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07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e8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e84e6e"/>
                </a:solidFill>
                <a:latin typeface="맑은 고딕"/>
                <a:ea typeface="맑은 고딕"/>
              </a:rPr>
              <a:t>MAIN QUEST 4 · 🥋</a:t>
            </a:r>
            <a:endParaRPr sz="1300" b="1">
              <a:solidFill>
                <a:srgbClr val="e84e6e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449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3000" b="1">
                <a:solidFill>
                  <a:srgbClr val="16161f"/>
                </a:solidFill>
                <a:latin typeface="맑은 고딕"/>
                <a:ea typeface="맑은 고딕"/>
              </a:rPr>
              <a:t>태권도장까지 걸어가기</a:t>
            </a:r>
            <a:endParaRPr sz="300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188737" y="1399032"/>
            <a:ext cx="2916364" cy="50566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7940">
            <a:solidFill>
              <a:srgbClr val="16161f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pic>
        <p:nvPicPr>
          <p:cNvPr id="8" name="Picture 7" descr="06_walk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271033" y="1481328"/>
            <a:ext cx="2751772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6112" y="1572768"/>
            <a:ext cx="6903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600" b="1">
                <a:solidFill>
                  <a:srgbClr val="e84e6e"/>
                </a:solidFill>
                <a:latin typeface="맑은 고딕"/>
                <a:ea typeface="맑은 고딕"/>
              </a:rPr>
              <a:t>플레이 방법</a:t>
            </a:r>
            <a:endParaRPr sz="1600" b="1">
              <a:solidFill>
                <a:srgbClr val="e84e6e"/>
              </a:solidFill>
              <a:latin typeface="맑은 고딕"/>
              <a:ea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96112" y="2057400"/>
            <a:ext cx="690372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/>
            </a:pPr>
            <a:r>
              <a:rPr sz="989" b="1">
                <a:solidFill>
                  <a:srgbClr val="e84e6e"/>
                </a:solidFill>
                <a:latin typeface="맑은 고딕"/>
                <a:ea typeface="맑은 고딕"/>
              </a:rPr>
              <a:t>●  </a:t>
            </a: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걸어서 전진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  평소엔 걷기 상태로 도착 게이지를 천천히 채운다</a:t>
            </a:r>
            <a:endParaRPr sz="135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/>
            </a:pPr>
            <a:r>
              <a:rPr sz="989" b="1">
                <a:solidFill>
                  <a:srgbClr val="e84e6e"/>
                </a:solidFill>
                <a:latin typeface="맑은 고딕"/>
                <a:ea typeface="맑은 고딕"/>
              </a:rPr>
              <a:t>●  </a:t>
            </a: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변칙 시야 회피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  길가 선배의 시야(부채꼴)가 CCTV처럼 변칙적으로 회전</a:t>
            </a:r>
            <a:endParaRPr sz="135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/>
            </a:pPr>
            <a:r>
              <a:rPr sz="989" b="1">
                <a:solidFill>
                  <a:srgbClr val="e84e6e"/>
                </a:solidFill>
                <a:latin typeface="맑은 고딕"/>
                <a:ea typeface="맑은 고딕"/>
              </a:rPr>
              <a:t>●  </a:t>
            </a: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걸리면 뛰어라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  시야에 걸린 채 걸으면 발각! 화면을 꾹 눌러 구보로 돌파</a:t>
            </a:r>
            <a:endParaRPr sz="135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/>
            </a:pPr>
            <a:r>
              <a:rPr sz="989" b="1">
                <a:solidFill>
                  <a:srgbClr val="e84e6e"/>
                </a:solidFill>
                <a:latin typeface="맑은 고딕"/>
                <a:ea typeface="맑은 고딕"/>
              </a:rPr>
              <a:t>●  </a:t>
            </a: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자원 관리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  구보는 HP 소모 · 사각지대에서 걸으면 HP 회복 — 홀드 조작</a:t>
            </a:r>
            <a:endParaRPr sz="13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YGT 2025 · 공군사관학교 2학년 생도 서바이벌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08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2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2e5a8c"/>
                </a:solidFill>
                <a:latin typeface="맑은 고딕"/>
                <a:ea typeface="맑은 고딕"/>
              </a:rPr>
              <a:t>MAIN QUEST 5 · 💥</a:t>
            </a:r>
            <a:endParaRPr sz="1300" b="1">
              <a:solidFill>
                <a:srgbClr val="2e5a8c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449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3000" b="1">
                <a:solidFill>
                  <a:srgbClr val="16161f"/>
                </a:solidFill>
                <a:latin typeface="맑은 고딕"/>
                <a:ea typeface="맑은 고딕"/>
              </a:rPr>
              <a:t>옆방(1학년 방) 벽 치기</a:t>
            </a:r>
            <a:endParaRPr sz="300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188737" y="1399032"/>
            <a:ext cx="2916364" cy="50566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7940">
            <a:solidFill>
              <a:srgbClr val="16161f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pic>
        <p:nvPicPr>
          <p:cNvPr id="8" name="Picture 7" descr="07_wallpunch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271033" y="1481328"/>
            <a:ext cx="2751772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6112" y="1572768"/>
            <a:ext cx="6903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600" b="1">
                <a:solidFill>
                  <a:srgbClr val="2e5a8c"/>
                </a:solidFill>
                <a:latin typeface="맑은 고딕"/>
                <a:ea typeface="맑은 고딕"/>
              </a:rPr>
              <a:t>플레이 방법</a:t>
            </a:r>
            <a:endParaRPr sz="1600" b="1">
              <a:solidFill>
                <a:srgbClr val="2e5a8c"/>
              </a:solidFill>
              <a:latin typeface="맑은 고딕"/>
              <a:ea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96112" y="2057400"/>
            <a:ext cx="6903720" cy="1476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/>
            </a:pPr>
            <a:r>
              <a:rPr sz="989" b="1">
                <a:solidFill>
                  <a:srgbClr val="2e5a8c"/>
                </a:solidFill>
                <a:latin typeface="맑은 고딕"/>
                <a:ea typeface="맑은 고딕"/>
              </a:rPr>
              <a:t>●  </a:t>
            </a: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소등 후 침대에서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  옆방과 맞닿은 벽을 주먹으로 쿵쿵 치는 장난</a:t>
            </a:r>
            <a:endParaRPr sz="135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/>
            </a:pPr>
            <a:r>
              <a:rPr sz="989" b="1">
                <a:solidFill>
                  <a:srgbClr val="2e5a8c"/>
                </a:solidFill>
                <a:latin typeface="맑은 고딕"/>
                <a:ea typeface="맑은 고딕"/>
              </a:rPr>
              <a:t>●  </a:t>
            </a: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노트 높이 탭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  샤워장 노래 박자에 맞춰 👊 노트가 판정 링으로 흘러온다</a:t>
            </a:r>
            <a:endParaRPr sz="135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/>
            </a:pPr>
            <a:r>
              <a:rPr sz="989" b="1">
                <a:solidFill>
                  <a:srgbClr val="2e5a8c"/>
                </a:solidFill>
                <a:latin typeface="맑은 고딕"/>
                <a:ea typeface="맑은 고딕"/>
              </a:rPr>
              <a:t>●  </a:t>
            </a: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닿는 순간 </a:t>
            </a:r>
            <a:r>
              <a:rPr lang="ko-KR" altLang="en-US" sz="1500" b="1">
                <a:solidFill>
                  <a:srgbClr val="16161f"/>
                </a:solidFill>
                <a:latin typeface="맑은 고딕"/>
                <a:ea typeface="맑은 고딕"/>
              </a:rPr>
              <a:t>탭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  링에 닿는 순간 해당 높이(레인)를 정확히 탭</a:t>
            </a:r>
            <a:endParaRPr sz="135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/>
            </a:pPr>
            <a:r>
              <a:rPr sz="989" b="1">
                <a:solidFill>
                  <a:srgbClr val="2e5a8c"/>
                </a:solidFill>
                <a:latin typeface="맑은 고딕"/>
                <a:ea typeface="맑은 고딕"/>
              </a:rPr>
              <a:t>●  </a:t>
            </a: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미스 3번 = 발각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  놓침·엇박·자리 틀림 3번이면 </a:t>
            </a:r>
            <a:r>
              <a:rPr lang="ko-KR" altLang="en-US" sz="1350" b="0">
                <a:solidFill>
                  <a:srgbClr val="5a5c69"/>
                </a:solidFill>
                <a:latin typeface="맑은 고딕"/>
                <a:ea typeface="맑은 고딕"/>
              </a:rPr>
              <a:t>게임오버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· 노미스면 하트 +1칸</a:t>
            </a:r>
            <a:endParaRPr sz="13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YGT 2025 · 공군사관학교 2학년 생도 서바이벌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09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f2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f2b83e"/>
                </a:solidFill>
                <a:latin typeface="맑은 고딕"/>
                <a:ea typeface="맑은 고딕"/>
              </a:rPr>
              <a:t>MINI QUESTS · 돌발 미니 퀘스트</a:t>
            </a:r>
            <a:endParaRPr sz="1300" b="1">
              <a:solidFill>
                <a:srgbClr val="f2b83e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449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3000" b="1">
                <a:solidFill>
                  <a:srgbClr val="16161f"/>
                </a:solidFill>
                <a:latin typeface="맑은 고딕"/>
                <a:ea typeface="맑은 고딕"/>
              </a:rPr>
              <a:t>메인 퀘스트 도중 난입하는 3종</a:t>
            </a:r>
            <a:endParaRPr sz="300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127855" y="1399032"/>
            <a:ext cx="2041969" cy="35021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7940">
            <a:solidFill>
              <a:srgbClr val="16161f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pic>
        <p:nvPicPr>
          <p:cNvPr id="8" name="Picture 7" descr="08_kakao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210151" y="1481328"/>
            <a:ext cx="1877377" cy="3337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498348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600" b="1">
                <a:solidFill>
                  <a:srgbClr val="16161f"/>
                </a:solidFill>
                <a:latin typeface="맑은 고딕"/>
                <a:ea typeface="맑은 고딕"/>
              </a:rPr>
              <a:t>💬 카톡 답장</a:t>
            </a:r>
            <a:endParaRPr sz="160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65760" y="5394960"/>
            <a:ext cx="356616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00" b="0">
                <a:solidFill>
                  <a:srgbClr val="5a5c69"/>
                </a:solidFill>
                <a:latin typeface="맑은 고딕"/>
                <a:ea typeface="맑은 고딕"/>
              </a:rPr>
              <a:t>제한 시간 안에 선배 메시지에</a:t>
            </a:r>
            <a:r>
              <a:rPr lang="ko-KR" altLang="en-US" sz="1200" b="0">
                <a:solidFill>
                  <a:srgbClr val="5a5c69"/>
                </a:solidFill>
                <a:latin typeface="맑은 고딕"/>
                <a:ea typeface="맑은 고딕"/>
              </a:rPr>
              <a:t> </a:t>
            </a:r>
            <a:r>
              <a:rPr sz="1200" b="0">
                <a:solidFill>
                  <a:srgbClr val="5a5c69"/>
                </a:solidFill>
                <a:latin typeface="맑은 고딕"/>
                <a:ea typeface="맑은 고딕"/>
              </a:rPr>
              <a:t>정확히 타이핑.</a:t>
            </a:r>
            <a:endParaRPr sz="12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968335" y="1399032"/>
            <a:ext cx="2041969" cy="35021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7940">
            <a:solidFill>
              <a:srgbClr val="16161f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pic>
        <p:nvPicPr>
          <p:cNvPr id="12" name="Picture 11" descr="09_vot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050631" y="1481328"/>
            <a:ext cx="1877377" cy="3337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51960" y="498348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600" b="1">
                <a:solidFill>
                  <a:srgbClr val="16161f"/>
                </a:solidFill>
                <a:latin typeface="맑은 고딕"/>
                <a:ea typeface="맑은 고딕"/>
              </a:rPr>
              <a:t>🗳️ 함정 투표</a:t>
            </a:r>
            <a:endParaRPr sz="160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206240" y="539496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00" b="0">
                <a:solidFill>
                  <a:srgbClr val="5a5c69"/>
                </a:solidFill>
                <a:latin typeface="맑은 고딕"/>
                <a:ea typeface="맑은 고딕"/>
              </a:rPr>
              <a:t>이중·삼중 부정문으로 꼬인 선지 중</a:t>
            </a:r>
            <a:endParaRPr sz="120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00" b="0">
                <a:solidFill>
                  <a:srgbClr val="5a5c69"/>
                </a:solidFill>
                <a:latin typeface="맑은 고딕"/>
                <a:ea typeface="맑은 고딕"/>
              </a:rPr>
              <a:t>의미가 맞는 답을 골라야 한다</a:t>
            </a:r>
            <a:endParaRPr sz="12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808815" y="1399032"/>
            <a:ext cx="2041969" cy="35021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7940">
            <a:solidFill>
              <a:srgbClr val="16161f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pic>
        <p:nvPicPr>
          <p:cNvPr id="16" name="Picture 15" descr="10_photo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8891111" y="1481328"/>
            <a:ext cx="1877377" cy="33375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092440" y="498348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600" b="1">
                <a:solidFill>
                  <a:srgbClr val="16161f"/>
                </a:solidFill>
                <a:latin typeface="맑은 고딕"/>
                <a:ea typeface="맑은 고딕"/>
              </a:rPr>
              <a:t>📸 사진 고르기</a:t>
            </a:r>
            <a:endParaRPr sz="160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46720" y="539496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00" b="0">
                <a:solidFill>
                  <a:srgbClr val="5a5c69"/>
                </a:solidFill>
                <a:latin typeface="맑은 고딕"/>
                <a:ea typeface="맑은 고딕"/>
              </a:rPr>
              <a:t>제대로 정리된 관물대 고르기 /</a:t>
            </a:r>
            <a:endParaRPr sz="120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00" b="0">
                <a:solidFill>
                  <a:srgbClr val="5a5c69"/>
                </a:solidFill>
                <a:latin typeface="맑은 고딕"/>
                <a:ea typeface="맑은 고딕"/>
              </a:rPr>
              <a:t>틀린 부분 찾기 (틀린그림찾기)</a:t>
            </a:r>
            <a:endParaRPr sz="12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58368" y="6076950"/>
            <a:ext cx="10972800" cy="1809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00" b="1">
                <a:solidFill>
                  <a:srgbClr val="2e5a8c"/>
                </a:solidFill>
                <a:latin typeface="맑은 고딕"/>
                <a:ea typeface="맑은 고딕"/>
              </a:rPr>
              <a:t>실패 시 목숨 1칸 차감 후 그날은 계속 — UI는 실제 카카오톡 화면을 최대한 그대로 옮겼다.</a:t>
            </a:r>
            <a:endParaRPr sz="1200" b="1">
              <a:solidFill>
                <a:srgbClr val="2e5a8c"/>
              </a:solidFill>
              <a:latin typeface="맑은 고딕"/>
              <a:ea typeface="맑은 고딕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YGT 2025 · 공군사관학교 2학년 생도 서바이벌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10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e8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e84e6e"/>
                </a:solidFill>
                <a:latin typeface="맑은 고딕"/>
                <a:ea typeface="맑은 고딕"/>
              </a:rPr>
              <a:t>SYSTEMS · 목숨 · 난이도</a:t>
            </a:r>
            <a:endParaRPr sz="1300" b="1">
              <a:solidFill>
                <a:srgbClr val="e84e6e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3000" b="1">
                <a:solidFill>
                  <a:srgbClr val="16161f"/>
                </a:solidFill>
                <a:latin typeface="맑은 고딕"/>
                <a:ea typeface="맑은 고딕"/>
              </a:rPr>
              <a:t>죽어도 한 번 더 — 그리고 갈수록 조여오는 난이도</a:t>
            </a:r>
            <a:endParaRPr sz="300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463057" y="1399032"/>
            <a:ext cx="2916364" cy="50566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7940">
            <a:solidFill>
              <a:srgbClr val="16161f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pic>
        <p:nvPicPr>
          <p:cNvPr id="8" name="Picture 7" descr="11_result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545353" y="1481328"/>
            <a:ext cx="2751772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6112" y="1554480"/>
            <a:ext cx="6766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600" b="1">
                <a:solidFill>
                  <a:srgbClr val="e84e6e"/>
                </a:solidFill>
                <a:latin typeface="맑은 고딕"/>
                <a:ea typeface="맑은 고딕"/>
              </a:rPr>
              <a:t>❤️ 목숨(하트) 시스템</a:t>
            </a:r>
            <a:endParaRPr sz="1600" b="1">
              <a:solidFill>
                <a:srgbClr val="e84e6e"/>
              </a:solidFill>
              <a:latin typeface="맑은 고딕"/>
              <a:ea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96112" y="1993392"/>
            <a:ext cx="6766560" cy="940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/>
            </a:pPr>
            <a:r>
              <a:rPr sz="891" b="1">
                <a:solidFill>
                  <a:srgbClr val="e84e6e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16161f"/>
                </a:solidFill>
                <a:latin typeface="맑은 고딕"/>
                <a:ea typeface="맑은 고딕"/>
              </a:rPr>
              <a:t>부분 채움 하트</a:t>
            </a:r>
            <a:r>
              <a:rPr sz="1200" b="0">
                <a:solidFill>
                  <a:srgbClr val="5a5c69"/>
                </a:solidFill>
                <a:latin typeface="맑은 고딕"/>
                <a:ea typeface="맑은 고딕"/>
              </a:rPr>
              <a:t>   하트 1개 = </a:t>
            </a:r>
            <a:r>
              <a:rPr lang="en-US" altLang="ko-KR" sz="1200" b="0">
                <a:solidFill>
                  <a:srgbClr val="5a5c69"/>
                </a:solidFill>
                <a:latin typeface="맑은 고딕"/>
                <a:ea typeface="맑은 고딕"/>
              </a:rPr>
              <a:t>3</a:t>
            </a:r>
            <a:r>
              <a:rPr sz="1200" b="0">
                <a:solidFill>
                  <a:srgbClr val="5a5c69"/>
                </a:solidFill>
                <a:latin typeface="맑은 고딕"/>
                <a:ea typeface="맑은 고딕"/>
              </a:rPr>
              <a:t>칸, 최대 3칸 · </a:t>
            </a:r>
            <a:r>
              <a:rPr lang="en-US" altLang="ko-KR" sz="1200" b="0">
                <a:solidFill>
                  <a:srgbClr val="5a5c69"/>
                </a:solidFill>
                <a:latin typeface="맑은 고딕"/>
                <a:ea typeface="맑은 고딕"/>
              </a:rPr>
              <a:t>1/3</a:t>
            </a:r>
            <a:r>
              <a:rPr sz="1200" b="0">
                <a:solidFill>
                  <a:srgbClr val="5a5c69"/>
                </a:solidFill>
                <a:latin typeface="맑은 고딕"/>
                <a:ea typeface="맑은 고딕"/>
              </a:rPr>
              <a:t> 단위로 관리</a:t>
            </a:r>
            <a:endParaRPr sz="120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/>
            </a:pPr>
            <a:r>
              <a:rPr sz="891" b="1">
                <a:solidFill>
                  <a:srgbClr val="e84e6e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16161f"/>
                </a:solidFill>
                <a:latin typeface="맑은 고딕"/>
                <a:ea typeface="맑은 고딕"/>
              </a:rPr>
              <a:t>사망 후 부활</a:t>
            </a:r>
            <a:r>
              <a:rPr sz="1200" b="0">
                <a:solidFill>
                  <a:srgbClr val="5a5c69"/>
                </a:solidFill>
                <a:latin typeface="맑은 고딕"/>
                <a:ea typeface="맑은 고딕"/>
              </a:rPr>
              <a:t>   죽으면 </a:t>
            </a:r>
            <a:r>
              <a:rPr lang="ko-KR" altLang="en-US" sz="1200" b="0">
                <a:solidFill>
                  <a:srgbClr val="5a5c69"/>
                </a:solidFill>
                <a:latin typeface="맑은 고딕"/>
                <a:ea typeface="맑은 고딕"/>
              </a:rPr>
              <a:t>하트 </a:t>
            </a:r>
            <a:r>
              <a:rPr lang="en-US" altLang="ko-KR" sz="1200" b="0">
                <a:solidFill>
                  <a:srgbClr val="5a5c69"/>
                </a:solidFill>
                <a:latin typeface="맑은 고딕"/>
                <a:ea typeface="맑은 고딕"/>
              </a:rPr>
              <a:t>1</a:t>
            </a:r>
            <a:r>
              <a:rPr lang="ko-KR" altLang="en-US" sz="1200" b="0">
                <a:solidFill>
                  <a:srgbClr val="5a5c69"/>
                </a:solidFill>
                <a:latin typeface="맑은 고딕"/>
                <a:ea typeface="맑은 고딕"/>
              </a:rPr>
              <a:t>개 사용으로</a:t>
            </a:r>
            <a:r>
              <a:rPr sz="1200" b="0">
                <a:solidFill>
                  <a:srgbClr val="5a5c69"/>
                </a:solidFill>
                <a:latin typeface="맑은 고딕"/>
                <a:ea typeface="맑은 고딕"/>
              </a:rPr>
              <a:t> 부활</a:t>
            </a:r>
            <a:endParaRPr sz="120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/>
            </a:pPr>
            <a:r>
              <a:rPr sz="891" b="1">
                <a:solidFill>
                  <a:srgbClr val="e84e6e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16161f"/>
                </a:solidFill>
                <a:latin typeface="맑은 고딕"/>
                <a:ea typeface="맑은 고딕"/>
              </a:rPr>
              <a:t>칸을 벌어라</a:t>
            </a:r>
            <a:r>
              <a:rPr sz="1200" b="0">
                <a:solidFill>
                  <a:srgbClr val="5a5c69"/>
                </a:solidFill>
                <a:latin typeface="맑은 고딕"/>
                <a:ea typeface="맑은 고딕"/>
              </a:rPr>
              <a:t>   벽치기 노미스</a:t>
            </a:r>
            <a:r>
              <a:rPr lang="en-US" altLang="ko-KR" sz="1200" b="0">
                <a:solidFill>
                  <a:srgbClr val="5a5c69"/>
                </a:solidFill>
                <a:latin typeface="맑은 고딕"/>
                <a:ea typeface="맑은 고딕"/>
              </a:rPr>
              <a:t>:</a:t>
            </a:r>
            <a:r>
              <a:rPr lang="ko-KR" altLang="en-US" sz="1200" b="0">
                <a:solidFill>
                  <a:srgbClr val="5a5c69"/>
                </a:solidFill>
                <a:latin typeface="맑은 고딕"/>
                <a:ea typeface="맑은 고딕"/>
              </a:rPr>
              <a:t> </a:t>
            </a:r>
            <a:r>
              <a:rPr sz="1200" b="0">
                <a:solidFill>
                  <a:srgbClr val="5a5c69"/>
                </a:solidFill>
                <a:latin typeface="맑은 고딕"/>
                <a:ea typeface="맑은 고딕"/>
              </a:rPr>
              <a:t>+1칸 · 미니 퀘 성공</a:t>
            </a:r>
            <a:r>
              <a:rPr lang="en-US" altLang="ko-KR" sz="1200" b="0">
                <a:solidFill>
                  <a:srgbClr val="5a5c69"/>
                </a:solidFill>
                <a:latin typeface="맑은 고딕"/>
                <a:ea typeface="맑은 고딕"/>
              </a:rPr>
              <a:t>:</a:t>
            </a:r>
            <a:r>
              <a:rPr sz="1200" b="0">
                <a:solidFill>
                  <a:srgbClr val="5a5c69"/>
                </a:solidFill>
                <a:latin typeface="맑은 고딕"/>
                <a:ea typeface="맑은 고딕"/>
              </a:rPr>
              <a:t> +</a:t>
            </a:r>
            <a:r>
              <a:rPr lang="en-US" altLang="ko-KR" sz="1200" b="0">
                <a:solidFill>
                  <a:srgbClr val="5a5c69"/>
                </a:solidFill>
                <a:latin typeface="맑은 고딕"/>
                <a:ea typeface="맑은 고딕"/>
              </a:rPr>
              <a:t>1/3</a:t>
            </a:r>
            <a:r>
              <a:rPr sz="1200" b="0">
                <a:solidFill>
                  <a:srgbClr val="5a5c69"/>
                </a:solidFill>
                <a:latin typeface="맑은 고딕"/>
                <a:ea typeface="맑은 고딕"/>
              </a:rPr>
              <a:t> / 실패</a:t>
            </a:r>
            <a:r>
              <a:rPr lang="en-US" altLang="ko-KR" sz="1200" b="0">
                <a:solidFill>
                  <a:srgbClr val="5a5c69"/>
                </a:solidFill>
                <a:latin typeface="맑은 고딕"/>
                <a:ea typeface="맑은 고딕"/>
              </a:rPr>
              <a:t>:</a:t>
            </a:r>
            <a:r>
              <a:rPr sz="1200" b="0">
                <a:solidFill>
                  <a:srgbClr val="5a5c69"/>
                </a:solidFill>
                <a:latin typeface="맑은 고딕"/>
                <a:ea typeface="맑은 고딕"/>
              </a:rPr>
              <a:t> −1칸</a:t>
            </a:r>
            <a:endParaRPr sz="12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96112" y="3840480"/>
            <a:ext cx="6766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600" b="1">
                <a:solidFill>
                  <a:srgbClr val="539fe0"/>
                </a:solidFill>
                <a:latin typeface="맑은 고딕"/>
                <a:ea typeface="맑은 고딕"/>
              </a:rPr>
              <a:t>📈 난이도 스케일링</a:t>
            </a:r>
            <a:endParaRPr sz="1600" b="1">
              <a:solidFill>
                <a:srgbClr val="539fe0"/>
              </a:solidFill>
              <a:latin typeface="맑은 고딕"/>
              <a:ea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96112" y="4279392"/>
            <a:ext cx="6766560" cy="5974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/>
            </a:pPr>
            <a:r>
              <a:rPr sz="891" b="1">
                <a:solidFill>
                  <a:srgbClr val="539fe0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16161f"/>
                </a:solidFill>
                <a:latin typeface="맑은 고딕"/>
                <a:ea typeface="맑은 고딕"/>
              </a:rPr>
              <a:t>일수가 곧 난이도</a:t>
            </a:r>
            <a:r>
              <a:rPr sz="1200" b="0">
                <a:solidFill>
                  <a:srgbClr val="5a5c69"/>
                </a:solidFill>
                <a:latin typeface="맑은 고딕"/>
                <a:ea typeface="맑은 고딕"/>
              </a:rPr>
              <a:t>   일차↑ → 선배 등장 잦고 빠르게, 유예·제한시간 단축</a:t>
            </a:r>
            <a:endParaRPr sz="120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  <a:defRPr/>
            </a:pPr>
            <a:r>
              <a:rPr sz="891" b="1">
                <a:solidFill>
                  <a:srgbClr val="539fe0"/>
                </a:solidFill>
                <a:latin typeface="맑은 고딕"/>
                <a:ea typeface="맑은 고딕"/>
              </a:rPr>
              <a:t>●  </a:t>
            </a:r>
            <a:r>
              <a:rPr lang="ko-KR" altLang="en-US" sz="1350" b="1">
                <a:solidFill>
                  <a:srgbClr val="16161f"/>
                </a:solidFill>
                <a:latin typeface="맑은 고딕"/>
                <a:ea typeface="맑은 고딕"/>
              </a:rPr>
              <a:t>억까 제한</a:t>
            </a:r>
            <a:r>
              <a:rPr sz="1200" b="0">
                <a:solidFill>
                  <a:srgbClr val="5a5c69"/>
                </a:solidFill>
                <a:latin typeface="맑은 고딕"/>
                <a:ea typeface="맑은 고딕"/>
              </a:rPr>
              <a:t>   클리어 경로가 보장되게 조우 빈도를 제한</a:t>
            </a:r>
            <a:endParaRPr sz="12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YGT 2025 · 공군사관학교 2학년 생도 서바이벌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11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539fe0"/>
                </a:solidFill>
                <a:latin typeface="맑은 고딕"/>
                <a:ea typeface="맑은 고딕"/>
              </a:rPr>
              <a:t>TECH STACK · 사용한 도구</a:t>
            </a:r>
            <a:endParaRPr sz="1300" b="1">
              <a:solidFill>
                <a:srgbClr val="539fe0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449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3000" b="1">
                <a:solidFill>
                  <a:srgbClr val="16161f"/>
                </a:solidFill>
                <a:latin typeface="맑은 고딕"/>
                <a:ea typeface="맑은 고딕"/>
              </a:rPr>
              <a:t>Windows에서 폰까지, 서버 없이 리더보드까지</a:t>
            </a:r>
            <a:endParaRPr sz="300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" y="1572768"/>
            <a:ext cx="3520440" cy="1280160"/>
          </a:xfrm>
          <a:prstGeom prst="roundRect">
            <a:avLst>
              <a:gd name="adj" fmla="val 8000"/>
            </a:avLst>
          </a:prstGeom>
          <a:solidFill>
            <a:srgbClr val="f4f2ec"/>
          </a:solidFill>
          <a:ln w="1778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18872" cy="1280160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932688" y="170078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Phaser 3   </a:t>
            </a:r>
            <a:r>
              <a:rPr sz="1100" b="1">
                <a:solidFill>
                  <a:srgbClr val="539fe0"/>
                </a:solidFill>
                <a:latin typeface="맑은 고딕"/>
                <a:ea typeface="맑은 고딕"/>
              </a:rPr>
              <a:t>2D 게임 엔진</a:t>
            </a:r>
            <a:endParaRPr sz="1100" b="1">
              <a:solidFill>
                <a:srgbClr val="539fe0"/>
              </a:solidFill>
              <a:latin typeface="맑은 고딕"/>
              <a:ea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32688" y="2121408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50" b="0">
                <a:solidFill>
                  <a:srgbClr val="5a5c69"/>
                </a:solidFill>
                <a:latin typeface="맑은 고딕"/>
                <a:ea typeface="맑은 고딕"/>
              </a:rPr>
              <a:t>씬·물리·입력·렌더링. 720×1280 세로 캔버스 FIT 스케일</a:t>
            </a:r>
            <a:endParaRPr sz="11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15968" y="1572768"/>
            <a:ext cx="3520440" cy="1280160"/>
          </a:xfrm>
          <a:prstGeom prst="roundRect">
            <a:avLst>
              <a:gd name="adj" fmla="val 8000"/>
            </a:avLst>
          </a:prstGeom>
          <a:solidFill>
            <a:srgbClr val="f4f2ec"/>
          </a:solidFill>
          <a:ln w="1778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2" name="Rounded Rectangle 11"/>
          <p:cNvSpPr/>
          <p:nvPr/>
        </p:nvSpPr>
        <p:spPr>
          <a:xfrm>
            <a:off x="4315968" y="1572768"/>
            <a:ext cx="118872" cy="1280160"/>
          </a:xfrm>
          <a:prstGeom prst="roundRect">
            <a:avLst>
              <a:gd name="adj" fmla="val 50000"/>
            </a:avLst>
          </a:prstGeom>
          <a:solidFill>
            <a:srgbClr val="2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4590288" y="170078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TypeScript   </a:t>
            </a:r>
            <a:r>
              <a:rPr sz="1100" b="1">
                <a:solidFill>
                  <a:srgbClr val="2e5a8c"/>
                </a:solidFill>
                <a:latin typeface="맑은 고딕"/>
                <a:ea typeface="맑은 고딕"/>
              </a:rPr>
              <a:t>타입 안전</a:t>
            </a:r>
            <a:endParaRPr sz="1100" b="1">
              <a:solidFill>
                <a:srgbClr val="2e5a8c"/>
              </a:solidFill>
              <a:latin typeface="맑은 고딕"/>
              <a:ea typeface="맑은 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121408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50" b="0">
                <a:solidFill>
                  <a:srgbClr val="5a5c69"/>
                </a:solidFill>
                <a:latin typeface="맑은 고딕"/>
                <a:ea typeface="맑은 고딕"/>
              </a:rPr>
              <a:t>클라이언트 + 서버 함수 모두 strict 모드로 작성</a:t>
            </a:r>
            <a:endParaRPr sz="11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7973568" y="1572768"/>
            <a:ext cx="3520440" cy="1280160"/>
          </a:xfrm>
          <a:prstGeom prst="roundRect">
            <a:avLst>
              <a:gd name="adj" fmla="val 8000"/>
            </a:avLst>
          </a:prstGeom>
          <a:solidFill>
            <a:srgbClr val="f4f2ec"/>
          </a:solidFill>
          <a:ln w="1778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6" name="Rounded Rectangle 15"/>
          <p:cNvSpPr/>
          <p:nvPr/>
        </p:nvSpPr>
        <p:spPr>
          <a:xfrm>
            <a:off x="7973568" y="1572768"/>
            <a:ext cx="118872" cy="1280160"/>
          </a:xfrm>
          <a:prstGeom prst="roundRect">
            <a:avLst>
              <a:gd name="adj" fmla="val 50000"/>
            </a:avLst>
          </a:prstGeom>
          <a:solidFill>
            <a:srgbClr val="f2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8247888" y="170078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Vite   </a:t>
            </a:r>
            <a:r>
              <a:rPr sz="1100" b="1">
                <a:solidFill>
                  <a:srgbClr val="f2b83e"/>
                </a:solidFill>
                <a:latin typeface="맑은 고딕"/>
                <a:ea typeface="맑은 고딕"/>
              </a:rPr>
              <a:t>빌드 · 개발</a:t>
            </a:r>
            <a:endParaRPr sz="1100" b="1">
              <a:solidFill>
                <a:srgbClr val="f2b83e"/>
              </a:solidFill>
              <a:latin typeface="맑은 고딕"/>
              <a:ea typeface="맑은 고딕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247888" y="2121408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50" b="0">
                <a:solidFill>
                  <a:srgbClr val="5a5c69"/>
                </a:solidFill>
                <a:latin typeface="맑은 고딕"/>
                <a:ea typeface="맑은 고딕"/>
              </a:rPr>
              <a:t>번들링 + 핫리로드, --host로 같은 Wi-Fi 폰 테스트</a:t>
            </a:r>
            <a:endParaRPr sz="11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58368" y="2990087"/>
            <a:ext cx="3520440" cy="1280160"/>
          </a:xfrm>
          <a:prstGeom prst="roundRect">
            <a:avLst>
              <a:gd name="adj" fmla="val 8000"/>
            </a:avLst>
          </a:prstGeom>
          <a:solidFill>
            <a:srgbClr val="f4f2ec"/>
          </a:solidFill>
          <a:ln w="1778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0" name="Rounded Rectangle 19"/>
          <p:cNvSpPr/>
          <p:nvPr/>
        </p:nvSpPr>
        <p:spPr>
          <a:xfrm>
            <a:off x="658368" y="2990087"/>
            <a:ext cx="118872" cy="1280160"/>
          </a:xfrm>
          <a:prstGeom prst="roundRect">
            <a:avLst>
              <a:gd name="adj" fmla="val 50000"/>
            </a:avLst>
          </a:prstGeom>
          <a:solidFill>
            <a:srgbClr val="2fb8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932688" y="3118103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vite-plugin-pwa   </a:t>
            </a:r>
            <a:r>
              <a:rPr sz="1100" b="1">
                <a:solidFill>
                  <a:srgbClr val="2fb892"/>
                </a:solidFill>
                <a:latin typeface="맑은 고딕"/>
                <a:ea typeface="맑은 고딕"/>
              </a:rPr>
              <a:t>설치형 앱</a:t>
            </a:r>
            <a:endParaRPr sz="1100" b="1">
              <a:solidFill>
                <a:srgbClr val="2fb892"/>
              </a:solidFill>
              <a:latin typeface="맑은 고딕"/>
              <a:ea typeface="맑은 고딕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32688" y="3538727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50" b="0">
                <a:solidFill>
                  <a:srgbClr val="5a5c69"/>
                </a:solidFill>
                <a:latin typeface="맑은 고딕"/>
                <a:ea typeface="맑은 고딕"/>
              </a:rPr>
              <a:t>서비스워커·매니페스트 — 홈 화면 추가 · 오프라인 플레이</a:t>
            </a:r>
            <a:endParaRPr sz="11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315968" y="2990087"/>
            <a:ext cx="3520440" cy="1280160"/>
          </a:xfrm>
          <a:prstGeom prst="roundRect">
            <a:avLst>
              <a:gd name="adj" fmla="val 8000"/>
            </a:avLst>
          </a:prstGeom>
          <a:solidFill>
            <a:srgbClr val="f4f2ec"/>
          </a:solidFill>
          <a:ln w="1778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4" name="Rounded Rectangle 23"/>
          <p:cNvSpPr/>
          <p:nvPr/>
        </p:nvSpPr>
        <p:spPr>
          <a:xfrm>
            <a:off x="4315968" y="2990087"/>
            <a:ext cx="118872" cy="1280160"/>
          </a:xfrm>
          <a:prstGeom prst="roundRect">
            <a:avLst>
              <a:gd name="adj" fmla="val 50000"/>
            </a:avLst>
          </a:prstGeom>
          <a:solidFill>
            <a:srgbClr val="f2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5" name="TextBox 24"/>
          <p:cNvSpPr txBox="1"/>
          <p:nvPr/>
        </p:nvSpPr>
        <p:spPr>
          <a:xfrm>
            <a:off x="4590288" y="3118103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Cloudflare Pages   </a:t>
            </a:r>
            <a:r>
              <a:rPr sz="1100" b="1">
                <a:solidFill>
                  <a:srgbClr val="f2b83e"/>
                </a:solidFill>
                <a:latin typeface="맑은 고딕"/>
                <a:ea typeface="맑은 고딕"/>
              </a:rPr>
              <a:t>호스팅 · 배포</a:t>
            </a:r>
            <a:endParaRPr sz="1100" b="1">
              <a:solidFill>
                <a:srgbClr val="f2b83e"/>
              </a:solidFill>
              <a:latin typeface="맑은 고딕"/>
              <a:ea typeface="맑은 고딕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590288" y="3538727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50" b="0">
                <a:solidFill>
                  <a:srgbClr val="5a5c69"/>
                </a:solidFill>
                <a:latin typeface="맑은 고딕"/>
                <a:ea typeface="맑은 고딕"/>
              </a:rPr>
              <a:t>GitHub push → 자동 배포, 커스텀 도메인 자동 HTTPS</a:t>
            </a:r>
            <a:endParaRPr sz="11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7973568" y="2990087"/>
            <a:ext cx="3520440" cy="1280160"/>
          </a:xfrm>
          <a:prstGeom prst="roundRect">
            <a:avLst>
              <a:gd name="adj" fmla="val 8000"/>
            </a:avLst>
          </a:prstGeom>
          <a:solidFill>
            <a:srgbClr val="f4f2ec"/>
          </a:solidFill>
          <a:ln w="1778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8" name="Rounded Rectangle 27"/>
          <p:cNvSpPr/>
          <p:nvPr/>
        </p:nvSpPr>
        <p:spPr>
          <a:xfrm>
            <a:off x="7973568" y="2990087"/>
            <a:ext cx="118872" cy="1280160"/>
          </a:xfrm>
          <a:prstGeom prst="roundRect">
            <a:avLst>
              <a:gd name="adj" fmla="val 50000"/>
            </a:avLst>
          </a:prstGeom>
          <a:solidFill>
            <a:srgbClr val="e8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8247888" y="3118103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Pages Functions   </a:t>
            </a:r>
            <a:r>
              <a:rPr sz="1100" b="1">
                <a:solidFill>
                  <a:srgbClr val="e84e6e"/>
                </a:solidFill>
                <a:latin typeface="맑은 고딕"/>
                <a:ea typeface="맑은 고딕"/>
              </a:rPr>
              <a:t>서버리스 API</a:t>
            </a:r>
            <a:endParaRPr sz="1100" b="1">
              <a:solidFill>
                <a:srgbClr val="e84e6e"/>
              </a:solidFill>
              <a:latin typeface="맑은 고딕"/>
              <a:ea typeface="맑은 고딕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247888" y="3538727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50" b="0">
                <a:solidFill>
                  <a:srgbClr val="5a5c69"/>
                </a:solidFill>
                <a:latin typeface="맑은 고딕"/>
                <a:ea typeface="맑은 고딕"/>
              </a:rPr>
              <a:t>/api/leaderboard 조회·등록 (외부 BaaS 불필요)</a:t>
            </a:r>
            <a:endParaRPr sz="11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658368" y="4407407"/>
            <a:ext cx="3520440" cy="1280160"/>
          </a:xfrm>
          <a:prstGeom prst="roundRect">
            <a:avLst>
              <a:gd name="adj" fmla="val 8000"/>
            </a:avLst>
          </a:prstGeom>
          <a:solidFill>
            <a:srgbClr val="f4f2ec"/>
          </a:solidFill>
          <a:ln w="1778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2" name="Rounded Rectangle 31"/>
          <p:cNvSpPr/>
          <p:nvPr/>
        </p:nvSpPr>
        <p:spPr>
          <a:xfrm>
            <a:off x="658368" y="4407407"/>
            <a:ext cx="118872" cy="1280160"/>
          </a:xfrm>
          <a:prstGeom prst="roundRect">
            <a:avLst>
              <a:gd name="adj" fmla="val 50000"/>
            </a:avLst>
          </a:prstGeom>
          <a:solidFill>
            <a:srgbClr val="2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3" name="TextBox 32"/>
          <p:cNvSpPr txBox="1"/>
          <p:nvPr/>
        </p:nvSpPr>
        <p:spPr>
          <a:xfrm>
            <a:off x="932688" y="4535423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Cloudflare D1   </a:t>
            </a:r>
            <a:r>
              <a:rPr sz="1100" b="1">
                <a:solidFill>
                  <a:srgbClr val="2e5a8c"/>
                </a:solidFill>
                <a:latin typeface="맑은 고딕"/>
                <a:ea typeface="맑은 고딕"/>
              </a:rPr>
              <a:t>SQLite DB</a:t>
            </a:r>
            <a:endParaRPr sz="1100" b="1">
              <a:solidFill>
                <a:srgbClr val="2e5a8c"/>
              </a:solidFill>
              <a:latin typeface="맑은 고딕"/>
              <a:ea typeface="맑은 고딕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932688" y="4956047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50" b="0">
                <a:solidFill>
                  <a:srgbClr val="5a5c69"/>
                </a:solidFill>
                <a:latin typeface="맑은 고딕"/>
                <a:ea typeface="맑은 고딕"/>
              </a:rPr>
              <a:t>리더보드 저장 — 일차·생존시간 정렬 인덱스</a:t>
            </a:r>
            <a:endParaRPr sz="11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4315968" y="4407407"/>
            <a:ext cx="3520440" cy="1280160"/>
          </a:xfrm>
          <a:prstGeom prst="roundRect">
            <a:avLst>
              <a:gd name="adj" fmla="val 8000"/>
            </a:avLst>
          </a:prstGeom>
          <a:solidFill>
            <a:srgbClr val="f4f2ec"/>
          </a:solidFill>
          <a:ln w="1778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6" name="Rounded Rectangle 35"/>
          <p:cNvSpPr/>
          <p:nvPr/>
        </p:nvSpPr>
        <p:spPr>
          <a:xfrm>
            <a:off x="4315968" y="4407407"/>
            <a:ext cx="118872" cy="1280160"/>
          </a:xfrm>
          <a:prstGeom prst="roundRect">
            <a:avLst>
              <a:gd name="adj" fmla="val 50000"/>
            </a:avLst>
          </a:prstGeom>
          <a:solidFill>
            <a:srgbClr val="e8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7" name="TextBox 36"/>
          <p:cNvSpPr txBox="1"/>
          <p:nvPr/>
        </p:nvSpPr>
        <p:spPr>
          <a:xfrm>
            <a:off x="4590288" y="4535423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Gemini 이미지   </a:t>
            </a:r>
            <a:r>
              <a:rPr sz="1100" b="1">
                <a:solidFill>
                  <a:srgbClr val="e84e6e"/>
                </a:solidFill>
                <a:latin typeface="맑은 고딕"/>
                <a:ea typeface="맑은 고딕"/>
              </a:rPr>
              <a:t>AI 아트 생성</a:t>
            </a:r>
            <a:endParaRPr sz="1100" b="1">
              <a:solidFill>
                <a:srgbClr val="e84e6e"/>
              </a:solidFill>
              <a:latin typeface="맑은 고딕"/>
              <a:ea typeface="맑은 고딕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590288" y="4956047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50" b="0">
                <a:solidFill>
                  <a:srgbClr val="5a5c69"/>
                </a:solidFill>
                <a:latin typeface="맑은 고딕"/>
                <a:ea typeface="맑은 고딕"/>
              </a:rPr>
              <a:t>gemini-3-pro-image로 캐릭터·배경 78종+ 손그림체 생성</a:t>
            </a:r>
            <a:endParaRPr sz="11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7973568" y="4407407"/>
            <a:ext cx="3520440" cy="1280160"/>
          </a:xfrm>
          <a:prstGeom prst="roundRect">
            <a:avLst>
              <a:gd name="adj" fmla="val 8000"/>
            </a:avLst>
          </a:prstGeom>
          <a:solidFill>
            <a:srgbClr val="f4f2ec"/>
          </a:solidFill>
          <a:ln w="1778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0" name="Rounded Rectangle 39"/>
          <p:cNvSpPr/>
          <p:nvPr/>
        </p:nvSpPr>
        <p:spPr>
          <a:xfrm>
            <a:off x="7973568" y="4407407"/>
            <a:ext cx="118872" cy="1280160"/>
          </a:xfrm>
          <a:prstGeom prst="roundRect">
            <a:avLst>
              <a:gd name="adj" fmla="val 50000"/>
            </a:avLst>
          </a:prstGeom>
          <a:solidFill>
            <a:srgbClr val="2fb8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1" name="TextBox 40"/>
          <p:cNvSpPr txBox="1"/>
          <p:nvPr/>
        </p:nvSpPr>
        <p:spPr>
          <a:xfrm>
            <a:off x="8247888" y="4535423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Web Audio   </a:t>
            </a:r>
            <a:r>
              <a:rPr sz="1100" b="1">
                <a:solidFill>
                  <a:srgbClr val="2fb892"/>
                </a:solidFill>
                <a:latin typeface="맑은 고딕"/>
                <a:ea typeface="맑은 고딕"/>
              </a:rPr>
              <a:t>사운드</a:t>
            </a:r>
            <a:endParaRPr sz="1100" b="1">
              <a:solidFill>
                <a:srgbClr val="2fb892"/>
              </a:solidFill>
              <a:latin typeface="맑은 고딕"/>
              <a:ea typeface="맑은 고딕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247888" y="4956047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50" b="0">
                <a:solidFill>
                  <a:srgbClr val="5a5c69"/>
                </a:solidFill>
                <a:latin typeface="맑은 고딕"/>
                <a:ea typeface="맑은 고딕"/>
              </a:rPr>
              <a:t>칩튠 BGM·SFX를 코드로 합성 (master→bgm/sfx 버스)</a:t>
            </a:r>
            <a:endParaRPr sz="11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YGT 2025 · 공군사관학교 2학년 생도 서바이벌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12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2fb8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2fb892"/>
                </a:solidFill>
                <a:latin typeface="맑은 고딕"/>
                <a:ea typeface="맑은 고딕"/>
              </a:rPr>
              <a:t>PROCESS · 개발 과정</a:t>
            </a:r>
            <a:endParaRPr sz="1300" b="1">
              <a:solidFill>
                <a:srgbClr val="2fb892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7824" y="502919"/>
            <a:ext cx="10515600" cy="354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2400" b="1">
                <a:solidFill>
                  <a:srgbClr val="16161f"/>
                </a:solidFill>
                <a:latin typeface="맑은 고딕"/>
                <a:ea typeface="맑은 고딕"/>
              </a:rPr>
              <a:t>명세 → 수직 슬라이스 → AI 아트 전면 교체 → 실기기 피드백 </a:t>
            </a:r>
            <a:r>
              <a:rPr lang="ko-KR" altLang="en-US" sz="2400" b="1">
                <a:solidFill>
                  <a:srgbClr val="16161f"/>
                </a:solidFill>
                <a:latin typeface="맑은 고딕"/>
                <a:ea typeface="맑은 고딕"/>
              </a:rPr>
              <a:t>및 </a:t>
            </a:r>
            <a:r>
              <a:rPr sz="2400" b="1">
                <a:solidFill>
                  <a:srgbClr val="16161f"/>
                </a:solidFill>
                <a:latin typeface="맑은 고딕"/>
                <a:ea typeface="맑은 고딕"/>
              </a:rPr>
              <a:t>반복</a:t>
            </a:r>
            <a:r>
              <a:rPr lang="ko-KR" altLang="en-US" sz="2400" b="1">
                <a:solidFill>
                  <a:srgbClr val="16161f"/>
                </a:solidFill>
                <a:latin typeface="맑은 고딕"/>
                <a:ea typeface="맑은 고딕"/>
              </a:rPr>
              <a:t> 수정</a:t>
            </a:r>
            <a:endParaRPr lang="ko-KR" altLang="en-US" sz="240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14400" y="2944368"/>
            <a:ext cx="10332720" cy="54864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8" name="Oval 7"/>
          <p:cNvSpPr/>
          <p:nvPr/>
        </p:nvSpPr>
        <p:spPr>
          <a:xfrm>
            <a:off x="1819655" y="2825496"/>
            <a:ext cx="274320" cy="274320"/>
          </a:xfrm>
          <a:prstGeom prst="ellipse">
            <a:avLst/>
          </a:prstGeom>
          <a:solidFill>
            <a:srgbClr val="2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896112" y="169164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00" b="1">
                <a:solidFill>
                  <a:srgbClr val="2e5a8c"/>
                </a:solidFill>
                <a:latin typeface="맑은 고딕"/>
                <a:ea typeface="맑은 고딕"/>
              </a:rPr>
              <a:t>STEP 1</a:t>
            </a:r>
            <a:endParaRPr sz="1200" b="1">
              <a:solidFill>
                <a:srgbClr val="2e5a8c"/>
              </a:solidFill>
              <a:latin typeface="맑은 고딕"/>
              <a:ea typeface="맑은 고딕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96112" y="2011680"/>
            <a:ext cx="2103120" cy="777240"/>
          </a:xfrm>
          <a:prstGeom prst="roundRect">
            <a:avLst>
              <a:gd name="adj" fmla="val 10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941831" y="2066544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50" b="1">
                <a:solidFill>
                  <a:srgbClr val="16161f"/>
                </a:solidFill>
                <a:latin typeface="맑은 고딕"/>
                <a:ea typeface="맑은 고딕"/>
              </a:rPr>
              <a:t>명세 &amp; 스캐폴딩</a:t>
            </a:r>
            <a:endParaRPr sz="125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41831" y="237744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950" b="0">
                <a:solidFill>
                  <a:srgbClr val="5a5c69"/>
                </a:solidFill>
                <a:latin typeface="맑은 고딕"/>
                <a:ea typeface="맑은 고딕"/>
              </a:rPr>
              <a:t>게임 명세서 작성 → Vite+TS+Phaser+PWA 골격, 폰 접속 확인</a:t>
            </a:r>
            <a:endParaRPr sz="9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3886200" y="2825496"/>
            <a:ext cx="274320" cy="274320"/>
          </a:xfrm>
          <a:prstGeom prst="ellipse">
            <a:avLst/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962656" y="324612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00" b="1">
                <a:solidFill>
                  <a:srgbClr val="539fe0"/>
                </a:solidFill>
                <a:latin typeface="맑은 고딕"/>
                <a:ea typeface="맑은 고딕"/>
              </a:rPr>
              <a:t>STEP 2</a:t>
            </a:r>
            <a:endParaRPr sz="1200" b="1">
              <a:solidFill>
                <a:srgbClr val="539fe0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962656" y="3547872"/>
            <a:ext cx="2103120" cy="822960"/>
          </a:xfrm>
          <a:prstGeom prst="roundRect">
            <a:avLst>
              <a:gd name="adj" fmla="val 10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6" name="TextBox 15"/>
          <p:cNvSpPr txBox="1"/>
          <p:nvPr/>
        </p:nvSpPr>
        <p:spPr>
          <a:xfrm>
            <a:off x="3008376" y="3602736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50" b="1">
                <a:solidFill>
                  <a:srgbClr val="16161f"/>
                </a:solidFill>
                <a:latin typeface="맑은 고딕"/>
                <a:ea typeface="맑은 고딕"/>
              </a:rPr>
              <a:t>수직 슬라이스</a:t>
            </a:r>
            <a:endParaRPr sz="125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008376" y="391363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950" b="0">
                <a:solidFill>
                  <a:srgbClr val="5a5c69"/>
                </a:solidFill>
                <a:latin typeface="맑은 고딕"/>
                <a:ea typeface="맑은 고딕"/>
              </a:rPr>
              <a:t>GameState·QuestManager·DayIntro/Result → 하루 루프 완성</a:t>
            </a:r>
            <a:endParaRPr sz="9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5952744" y="2825496"/>
            <a:ext cx="274320" cy="274320"/>
          </a:xfrm>
          <a:prstGeom prst="ellipse">
            <a:avLst/>
          </a:prstGeom>
          <a:solidFill>
            <a:srgbClr val="2fb8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9" name="TextBox 18"/>
          <p:cNvSpPr txBox="1"/>
          <p:nvPr/>
        </p:nvSpPr>
        <p:spPr>
          <a:xfrm>
            <a:off x="5029200" y="169164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00" b="1">
                <a:solidFill>
                  <a:srgbClr val="2fb892"/>
                </a:solidFill>
                <a:latin typeface="맑은 고딕"/>
                <a:ea typeface="맑은 고딕"/>
              </a:rPr>
              <a:t>STEP 3</a:t>
            </a:r>
            <a:endParaRPr sz="1200" b="1">
              <a:solidFill>
                <a:srgbClr val="2fb892"/>
              </a:solidFill>
              <a:latin typeface="맑은 고딕"/>
              <a:ea typeface="맑은 고딕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029200" y="2011680"/>
            <a:ext cx="2103120" cy="777240"/>
          </a:xfrm>
          <a:prstGeom prst="roundRect">
            <a:avLst>
              <a:gd name="adj" fmla="val 10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5074920" y="2066544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50" b="1">
                <a:solidFill>
                  <a:srgbClr val="16161f"/>
                </a:solidFill>
                <a:latin typeface="맑은 고딕"/>
                <a:ea typeface="맑은 고딕"/>
              </a:rPr>
              <a:t>퀘스트 5+미니 3</a:t>
            </a:r>
            <a:endParaRPr sz="125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074920" y="237744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950" b="0">
                <a:solidFill>
                  <a:srgbClr val="5a5c69"/>
                </a:solidFill>
                <a:latin typeface="맑은 고딕"/>
                <a:ea typeface="맑은 고딕"/>
              </a:rPr>
              <a:t>메인·미니 퀘스트 구현 + 리더보드(D1) 연동</a:t>
            </a:r>
            <a:endParaRPr sz="9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8019288" y="2825496"/>
            <a:ext cx="274320" cy="274320"/>
          </a:xfrm>
          <a:prstGeom prst="ellipse">
            <a:avLst/>
          </a:prstGeom>
          <a:solidFill>
            <a:srgbClr val="f2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7095744" y="324612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00" b="1">
                <a:solidFill>
                  <a:srgbClr val="f2b83e"/>
                </a:solidFill>
                <a:latin typeface="맑은 고딕"/>
                <a:ea typeface="맑은 고딕"/>
              </a:rPr>
              <a:t>STEP 4</a:t>
            </a:r>
            <a:endParaRPr sz="1200" b="1">
              <a:solidFill>
                <a:srgbClr val="f2b83e"/>
              </a:solidFill>
              <a:latin typeface="맑은 고딕"/>
              <a:ea typeface="맑은 고딕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7095744" y="3547872"/>
            <a:ext cx="2103120" cy="822960"/>
          </a:xfrm>
          <a:prstGeom prst="roundRect">
            <a:avLst>
              <a:gd name="adj" fmla="val 10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6" name="TextBox 25"/>
          <p:cNvSpPr txBox="1"/>
          <p:nvPr/>
        </p:nvSpPr>
        <p:spPr>
          <a:xfrm>
            <a:off x="7141464" y="3602736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50" b="1">
                <a:solidFill>
                  <a:srgbClr val="16161f"/>
                </a:solidFill>
                <a:latin typeface="맑은 고딕"/>
                <a:ea typeface="맑은 고딕"/>
              </a:rPr>
              <a:t>AI 아트 전면 교체</a:t>
            </a:r>
            <a:endParaRPr sz="125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141464" y="391363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950" b="0">
                <a:solidFill>
                  <a:srgbClr val="5a5c69"/>
                </a:solidFill>
                <a:latin typeface="맑은 고딕"/>
                <a:ea typeface="맑은 고딕"/>
              </a:rPr>
              <a:t>절차 벡터 드로잉 → Gemini 생성 손그림 PNG 78종+로 교체</a:t>
            </a:r>
            <a:endParaRPr sz="9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28" name="Oval 27"/>
          <p:cNvSpPr/>
          <p:nvPr/>
        </p:nvSpPr>
        <p:spPr>
          <a:xfrm>
            <a:off x="10085832" y="2825496"/>
            <a:ext cx="274320" cy="274320"/>
          </a:xfrm>
          <a:prstGeom prst="ellipse">
            <a:avLst/>
          </a:prstGeom>
          <a:solidFill>
            <a:srgbClr val="e8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9162288" y="169164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00" b="1">
                <a:solidFill>
                  <a:srgbClr val="e84e6e"/>
                </a:solidFill>
                <a:latin typeface="맑은 고딕"/>
                <a:ea typeface="맑은 고딕"/>
              </a:rPr>
              <a:t>STEP 5</a:t>
            </a:r>
            <a:endParaRPr sz="1200" b="1">
              <a:solidFill>
                <a:srgbClr val="e84e6e"/>
              </a:solidFill>
              <a:latin typeface="맑은 고딕"/>
              <a:ea typeface="맑은 고딕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9162288" y="2011680"/>
            <a:ext cx="2103120" cy="777240"/>
          </a:xfrm>
          <a:prstGeom prst="roundRect">
            <a:avLst>
              <a:gd name="adj" fmla="val 10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1" name="TextBox 30"/>
          <p:cNvSpPr txBox="1"/>
          <p:nvPr/>
        </p:nvSpPr>
        <p:spPr>
          <a:xfrm>
            <a:off x="9208008" y="2066544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50" b="1">
                <a:solidFill>
                  <a:srgbClr val="16161f"/>
                </a:solidFill>
                <a:latin typeface="맑은 고딕"/>
                <a:ea typeface="맑은 고딕"/>
              </a:rPr>
              <a:t>실기기 피드백</a:t>
            </a:r>
            <a:endParaRPr sz="125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208008" y="237744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950" b="0">
                <a:solidFill>
                  <a:srgbClr val="5a5c69"/>
                </a:solidFill>
                <a:latin typeface="맑은 고딕"/>
                <a:ea typeface="맑은 고딕"/>
              </a:rPr>
              <a:t>iOS PWA에서 테스트 → 오디오·뷰포트·밸런스·연출 반복 수정</a:t>
            </a:r>
            <a:endParaRPr sz="9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914400" y="5074920"/>
            <a:ext cx="10332720" cy="960120"/>
          </a:xfrm>
          <a:prstGeom prst="roundRect">
            <a:avLst>
              <a:gd name="adj" fmla="val 6000"/>
            </a:avLst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4" name="TextBox 33"/>
          <p:cNvSpPr txBox="1"/>
          <p:nvPr/>
        </p:nvSpPr>
        <p:spPr>
          <a:xfrm>
            <a:off x="1188720" y="5193792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400" b="1">
                <a:solidFill>
                  <a:srgbClr val="f2b83e"/>
                </a:solidFill>
                <a:latin typeface="맑은 고딕"/>
                <a:ea typeface="맑은 고딕"/>
              </a:rPr>
              <a:t>개발 제약  </a:t>
            </a:r>
            <a:r>
              <a:rPr sz="1300" b="0">
                <a:solidFill>
                  <a:srgbClr val="f4f2ec"/>
                </a:solidFill>
                <a:latin typeface="맑은 고딕"/>
                <a:ea typeface="맑은 고딕"/>
              </a:rPr>
              <a:t>개발 PC는 Windows, Mac·USB 불가 → 네이티브 빌드 없이 </a:t>
            </a: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순수 웹 PWA</a:t>
            </a:r>
            <a:r>
              <a:rPr sz="1300" b="0">
                <a:solidFill>
                  <a:srgbClr val="f4f2ec"/>
                </a:solidFill>
                <a:latin typeface="맑은 고딕"/>
                <a:ea typeface="맑은 고딕"/>
              </a:rPr>
              <a:t>로만 개발. 배포본을 폰에서 “홈 화면에 추가”해 실기기 테스트.</a:t>
            </a:r>
            <a:endParaRPr sz="1300" b="0">
              <a:solidFill>
                <a:srgbClr val="f4f2ec"/>
              </a:solidFill>
              <a:latin typeface="맑은 고딕"/>
              <a:ea typeface="맑은 고딕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YGT 2025 · 공군사관학교 2학년 생도 서바이벌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13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E8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84E6E"/>
                </a:solidFill>
                <a:latin typeface="Malgun Gothic"/>
                <a:ea typeface="Malgun Gothic"/>
              </a:rPr>
              <a:t>ART · 화풍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61F"/>
                </a:solidFill>
                <a:latin typeface="Malgun Gothic"/>
                <a:ea typeface="Malgun Gothic"/>
              </a:rPr>
              <a:t>AI가 그린 손그림체 — 코드 절차 드로잉을 전면 교체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968496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A5C69"/>
                </a:solidFill>
                <a:latin typeface="Malgun Gothic"/>
                <a:ea typeface="Malgun Gothic"/>
              </a:rPr>
              <a:t>▲ 계급은 오직 어깨 견장 줄 수로 구분 — 얼굴·복장은 동일하게 그려 ‘눈치 게임’이 성립한다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57200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700016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E84E6E"/>
                </a:solidFill>
                <a:latin typeface="Malgun Gothic"/>
                <a:ea typeface="Malgun Gothic"/>
              </a:rPr>
              <a:t>①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102352"/>
            <a:ext cx="23865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A5C69"/>
                </a:solidFill>
                <a:latin typeface="Malgun Gothic"/>
                <a:ea typeface="Malgun Gothic"/>
              </a:rPr>
              <a:t>Gemini pro-image로
캐릭터시트·실사진 참조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4983480"/>
            <a:ext cx="2194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7E4DB"/>
                </a:solidFill>
                <a:latin typeface="Malgun Gothic"/>
                <a:ea typeface="Malgun Gothic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7288" y="457200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47288" y="4700016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2B83E"/>
                </a:solidFill>
                <a:latin typeface="Malgun Gothic"/>
                <a:ea typeface="Malgun Gothic"/>
              </a:rPr>
              <a:t>② 투명화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7016" y="5102352"/>
            <a:ext cx="23865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A5C69"/>
                </a:solidFill>
                <a:latin typeface="Malgun Gothic"/>
                <a:ea typeface="Malgun Gothic"/>
              </a:rPr>
              <a:t>마젠타/그린 배경을
리전그로우 플러드필로 키잉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4983480"/>
            <a:ext cx="2194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7E4DB"/>
                </a:solidFill>
                <a:latin typeface="Malgun Gothic"/>
                <a:ea typeface="Malgun Gothic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457200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6208" y="4700016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2FB892"/>
                </a:solidFill>
                <a:latin typeface="Malgun Gothic"/>
                <a:ea typeface="Malgun Gothic"/>
              </a:rPr>
              <a:t>③ 리사이즈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5102352"/>
            <a:ext cx="23865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A5C69"/>
                </a:solidFill>
                <a:latin typeface="Malgun Gothic"/>
                <a:ea typeface="Malgun Gothic"/>
              </a:rPr>
              <a:t>sharp로 팔레트 PNG 압축
(80MB → 15MB)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4983480"/>
            <a:ext cx="2194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7E4DB"/>
                </a:solidFill>
                <a:latin typeface="Malgun Gothic"/>
                <a:ea typeface="Malgun Gothic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5128" y="457200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25128" y="4700016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539FE0"/>
                </a:solidFill>
                <a:latin typeface="Malgun Gothic"/>
                <a:ea typeface="Malgun Gothic"/>
              </a:rPr>
              <a:t>④ 매니페스트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34856" y="5102352"/>
            <a:ext cx="23865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A5C69"/>
                </a:solidFill>
                <a:latin typeface="Malgun Gothic"/>
                <a:ea typeface="Malgun Gothic"/>
              </a:rPr>
              <a:t>IMAGE_KEYS 등록 →
BootScene가 프리로드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YGT 2025 · 공군사관학교 2학년 생도 서바이벌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14</a:t>
            </a:r>
          </a:p>
        </p:txBody>
      </p:sp>
      <p:pic>
        <p:nvPicPr>
          <p:cNvPr id="26" name="Picture 25" descr="art_lineu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1926" y="1417320"/>
            <a:ext cx="5367842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e8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1916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e84e6e"/>
                </a:solidFill>
                <a:latin typeface="맑은 고딕"/>
                <a:ea typeface="맑은 고딕"/>
              </a:rPr>
              <a:t>CHALLENGES  · 특히 어려웠던 점</a:t>
            </a:r>
            <a:endParaRPr sz="1300" b="1">
              <a:solidFill>
                <a:srgbClr val="e84e6e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3000" b="1">
                <a:solidFill>
                  <a:srgbClr val="16161f"/>
                </a:solidFill>
                <a:latin typeface="맑은 고딕"/>
                <a:ea typeface="맑은 고딕"/>
              </a:rPr>
              <a:t>AI 아트를 ‘게임 에셋’으로 길들이기</a:t>
            </a:r>
            <a:endParaRPr sz="300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pic>
        <p:nvPicPr>
          <p:cNvPr id="7" name="Picture 6" descr="art_walkcycle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400800" y="1600200"/>
            <a:ext cx="4937760" cy="22311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877056"/>
            <a:ext cx="4937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▲ 프레임을 따로 그리면 머리색·완장·얼굴이 프레임마다 달라진다.</a:t>
            </a:r>
            <a:endParaRPr sz="110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   해결: 4칸을 ‘한 장’에 그려 슬라이스 → 정체성 100% 일관</a:t>
            </a:r>
            <a:endParaRPr sz="11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160020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0" name="Rounded Rectangle 9"/>
          <p:cNvSpPr/>
          <p:nvPr/>
        </p:nvSpPr>
        <p:spPr>
          <a:xfrm>
            <a:off x="658368" y="1600200"/>
            <a:ext cx="118872" cy="1371600"/>
          </a:xfrm>
          <a:prstGeom prst="roundRect">
            <a:avLst>
              <a:gd name="adj" fmla="val 50000"/>
            </a:avLst>
          </a:prstGeom>
          <a:solidFill>
            <a:srgbClr val="e8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868680" y="1746504"/>
            <a:ext cx="640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2400" b="0">
                <a:solidFill>
                  <a:srgbClr val="16161f"/>
                </a:solidFill>
                <a:latin typeface="맑은 고딕"/>
                <a:ea typeface="맑은 고딕"/>
              </a:rPr>
              <a:t>🎞️</a:t>
            </a:r>
            <a:endParaRPr sz="2400" b="0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08760" y="1764792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400" b="1">
                <a:solidFill>
                  <a:srgbClr val="16161f"/>
                </a:solidFill>
                <a:latin typeface="맑은 고딕"/>
                <a:ea typeface="맑은 고딕"/>
              </a:rPr>
              <a:t>프레임 플리커 · 캐릭터 일관성</a:t>
            </a:r>
            <a:endParaRPr sz="140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508760" y="2148840"/>
            <a:ext cx="45262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걸음 애니메이션을 프레임별로 생성하니 매 컷 인물이 바뀜. 스트립(격자) 한 번의 생성으로 앞·뒤 8컷을 함께 그려 해결.</a:t>
            </a:r>
            <a:endParaRPr sz="11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58368" y="3081528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5" name="Rounded Rectangle 14"/>
          <p:cNvSpPr/>
          <p:nvPr/>
        </p:nvSpPr>
        <p:spPr>
          <a:xfrm>
            <a:off x="658368" y="3081528"/>
            <a:ext cx="118872" cy="1371600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6" name="TextBox 15"/>
          <p:cNvSpPr txBox="1"/>
          <p:nvPr/>
        </p:nvSpPr>
        <p:spPr>
          <a:xfrm>
            <a:off x="868680" y="3227832"/>
            <a:ext cx="640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2400" b="0">
                <a:solidFill>
                  <a:srgbClr val="16161f"/>
                </a:solidFill>
                <a:latin typeface="맑은 고딕"/>
                <a:ea typeface="맑은 고딕"/>
              </a:rPr>
              <a:t>📐</a:t>
            </a:r>
            <a:endParaRPr sz="2400" b="0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508760" y="32461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400" b="1">
                <a:solidFill>
                  <a:srgbClr val="16161f"/>
                </a:solidFill>
                <a:latin typeface="맑은 고딕"/>
                <a:ea typeface="맑은 고딕"/>
              </a:rPr>
              <a:t>캐릭터가 공중에 뜨는 문제</a:t>
            </a:r>
            <a:endParaRPr sz="140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508760" y="3630168"/>
            <a:ext cx="45262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배경 원근과 안 맞아 인물이 붕 뜬다. 배경 PNG에서 소실점을 실측해 ‘발끝 y로 스케일 역산’하는 1차식으로 배치.</a:t>
            </a:r>
            <a:endParaRPr sz="11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58368" y="4562856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0" name="Rounded Rectangle 19"/>
          <p:cNvSpPr/>
          <p:nvPr/>
        </p:nvSpPr>
        <p:spPr>
          <a:xfrm>
            <a:off x="658368" y="4562856"/>
            <a:ext cx="118872" cy="1371600"/>
          </a:xfrm>
          <a:prstGeom prst="roundRect">
            <a:avLst>
              <a:gd name="adj" fmla="val 50000"/>
            </a:avLst>
          </a:prstGeom>
          <a:solidFill>
            <a:srgbClr val="f2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868680" y="4709160"/>
            <a:ext cx="640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2400" b="0">
                <a:solidFill>
                  <a:srgbClr val="16161f"/>
                </a:solidFill>
                <a:latin typeface="맑은 고딕"/>
                <a:ea typeface="맑은 고딕"/>
              </a:rPr>
              <a:t>🔩</a:t>
            </a:r>
            <a:endParaRPr sz="2400" b="0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508760" y="4727448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400" b="1">
                <a:solidFill>
                  <a:srgbClr val="16161f"/>
                </a:solidFill>
                <a:latin typeface="맑은 고딕"/>
                <a:ea typeface="맑은 고딕"/>
              </a:rPr>
              <a:t>국소 수정을 못 하는 AI</a:t>
            </a:r>
            <a:endParaRPr sz="140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508760" y="5111496"/>
            <a:ext cx="45262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신발장 한 칸만 고치는 편집을 5회 실패. diff-마스크로 성공 픽셀만 추출·호모테티 배치하거나, 아예 그 요소를 화면에서 제거.</a:t>
            </a:r>
            <a:endParaRPr sz="11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YGT 2025 · 공군사관학교 2학년 생도 서바이벌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15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f2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f2b83e"/>
                </a:solidFill>
                <a:latin typeface="맑은 고딕"/>
                <a:ea typeface="맑은 고딕"/>
              </a:rPr>
              <a:t>BACKEND · 리더보드 &amp; 배포</a:t>
            </a:r>
            <a:endParaRPr sz="1300" b="1">
              <a:solidFill>
                <a:srgbClr val="f2b83e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3000" b="1">
                <a:solidFill>
                  <a:srgbClr val="16161f"/>
                </a:solidFill>
                <a:latin typeface="맑은 고딕"/>
                <a:ea typeface="맑은 고딕"/>
              </a:rPr>
              <a:t>같은 Cloudflare 프로젝트 안에서 서버까지 해결</a:t>
            </a:r>
            <a:endParaRPr sz="300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22960" y="1783080"/>
            <a:ext cx="2286000" cy="1143000"/>
          </a:xfrm>
          <a:prstGeom prst="roundRect">
            <a:avLst>
              <a:gd name="adj" fmla="val 10000"/>
            </a:avLst>
          </a:prstGeom>
          <a:solidFill>
            <a:srgbClr val="539fe0"/>
          </a:solidFill>
          <a:ln>
            <a:noFill/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822960" y="1911095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</a:rPr>
              <a:t>게임 클라이언트</a:t>
            </a:r>
            <a:endParaRPr sz="1350" b="1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2103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f4f2ec"/>
                </a:solidFill>
                <a:latin typeface="맑은 고딕"/>
                <a:ea typeface="맑은 고딕"/>
              </a:rPr>
              <a:t>신기록일 때만</a:t>
            </a:r>
            <a:endParaRPr sz="1000" b="0">
              <a:solidFill>
                <a:srgbClr val="f4f2ec"/>
              </a:solidFill>
              <a:latin typeface="맑은 고딕"/>
              <a:ea typeface="맑은 고딕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f4f2ec"/>
                </a:solidFill>
                <a:latin typeface="맑은 고딕"/>
                <a:ea typeface="맑은 고딕"/>
              </a:rPr>
              <a:t>자동 등록</a:t>
            </a:r>
            <a:endParaRPr sz="1000" b="0">
              <a:solidFill>
                <a:srgbClr val="f4f2ec"/>
              </a:solidFill>
              <a:latin typeface="맑은 고딕"/>
              <a:ea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154680" y="2057400"/>
            <a:ext cx="640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2000" b="0">
                <a:solidFill>
                  <a:srgbClr val="e7e4db"/>
                </a:solidFill>
                <a:latin typeface="맑은 고딕"/>
                <a:ea typeface="맑은 고딕"/>
              </a:rPr>
              <a:t>▶</a:t>
            </a:r>
            <a:endParaRPr sz="2000" b="0">
              <a:solidFill>
                <a:srgbClr val="e7e4db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840480" y="1783080"/>
            <a:ext cx="2286000" cy="1143000"/>
          </a:xfrm>
          <a:prstGeom prst="roundRect">
            <a:avLst>
              <a:gd name="adj" fmla="val 10000"/>
            </a:avLst>
          </a:prstGeom>
          <a:solidFill>
            <a:srgbClr val="e84e6e"/>
          </a:solidFill>
          <a:ln>
            <a:noFill/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2" name="TextBox 11"/>
          <p:cNvSpPr txBox="1"/>
          <p:nvPr/>
        </p:nvSpPr>
        <p:spPr>
          <a:xfrm>
            <a:off x="3840480" y="1911095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</a:rPr>
              <a:t>Pages Function</a:t>
            </a:r>
            <a:endParaRPr sz="1350" b="1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931920" y="2286000"/>
            <a:ext cx="2103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f4f2ec"/>
                </a:solidFill>
                <a:latin typeface="맑은 고딕"/>
                <a:ea typeface="맑은 고딕"/>
              </a:rPr>
              <a:t>/api/leaderboard</a:t>
            </a:r>
            <a:endParaRPr sz="1000" b="0">
              <a:solidFill>
                <a:srgbClr val="f4f2ec"/>
              </a:solidFill>
              <a:latin typeface="맑은 고딕"/>
              <a:ea typeface="맑은 고딕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f4f2ec"/>
                </a:solidFill>
                <a:latin typeface="맑은 고딕"/>
                <a:ea typeface="맑은 고딕"/>
              </a:rPr>
              <a:t>검증·순위계산</a:t>
            </a:r>
            <a:endParaRPr sz="1000" b="0">
              <a:solidFill>
                <a:srgbClr val="f4f2ec"/>
              </a:solidFill>
              <a:latin typeface="맑은 고딕"/>
              <a:ea typeface="맑은 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72200" y="2057400"/>
            <a:ext cx="640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2000" b="0">
                <a:solidFill>
                  <a:srgbClr val="e7e4db"/>
                </a:solidFill>
                <a:latin typeface="맑은 고딕"/>
                <a:ea typeface="맑은 고딕"/>
              </a:rPr>
              <a:t>▶</a:t>
            </a:r>
            <a:endParaRPr sz="2000" b="0">
              <a:solidFill>
                <a:srgbClr val="e7e4db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858000" y="1783080"/>
            <a:ext cx="2286000" cy="1143000"/>
          </a:xfrm>
          <a:prstGeom prst="roundRect">
            <a:avLst>
              <a:gd name="adj" fmla="val 10000"/>
            </a:avLst>
          </a:prstGeom>
          <a:solidFill>
            <a:srgbClr val="2e5a8c"/>
          </a:solidFill>
          <a:ln>
            <a:noFill/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6" name="TextBox 15"/>
          <p:cNvSpPr txBox="1"/>
          <p:nvPr/>
        </p:nvSpPr>
        <p:spPr>
          <a:xfrm>
            <a:off x="6858000" y="1911095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</a:rPr>
              <a:t>Cloudflare D1</a:t>
            </a:r>
            <a:endParaRPr sz="1350" b="1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949440" y="2286000"/>
            <a:ext cx="2103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f4f2ec"/>
                </a:solidFill>
                <a:latin typeface="맑은 고딕"/>
                <a:ea typeface="맑은 고딕"/>
              </a:rPr>
              <a:t>SQLite —</a:t>
            </a:r>
            <a:endParaRPr sz="1000" b="0">
              <a:solidFill>
                <a:srgbClr val="f4f2ec"/>
              </a:solidFill>
              <a:latin typeface="맑은 고딕"/>
              <a:ea typeface="맑은 고딕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f4f2ec"/>
                </a:solidFill>
                <a:latin typeface="맑은 고딕"/>
                <a:ea typeface="맑은 고딕"/>
              </a:rPr>
              <a:t>닉네임·일차·시간</a:t>
            </a:r>
            <a:endParaRPr sz="1000" b="0">
              <a:solidFill>
                <a:srgbClr val="f4f2ec"/>
              </a:solidFill>
              <a:latin typeface="맑은 고딕"/>
              <a:ea typeface="맑은 고딕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9464040" y="1783080"/>
            <a:ext cx="2057400" cy="1143000"/>
          </a:xfrm>
          <a:prstGeom prst="roundRect">
            <a:avLst>
              <a:gd name="adj" fmla="val 10000"/>
            </a:avLst>
          </a:prstGeom>
          <a:solidFill>
            <a:srgbClr val="2fb892"/>
          </a:solidFill>
          <a:ln>
            <a:noFill/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9" name="TextBox 18"/>
          <p:cNvSpPr txBox="1"/>
          <p:nvPr/>
        </p:nvSpPr>
        <p:spPr>
          <a:xfrm>
            <a:off x="9464040" y="1911095"/>
            <a:ext cx="2057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</a:rPr>
              <a:t>오프라인 큐</a:t>
            </a:r>
            <a:endParaRPr sz="1350" b="1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555480" y="2286000"/>
            <a:ext cx="187451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f4f2ec"/>
                </a:solidFill>
                <a:latin typeface="맑은 고딕"/>
                <a:ea typeface="맑은 고딕"/>
              </a:rPr>
              <a:t>등록 실패 시</a:t>
            </a:r>
            <a:endParaRPr sz="1000" b="0">
              <a:solidFill>
                <a:srgbClr val="f4f2ec"/>
              </a:solidFill>
              <a:latin typeface="맑은 고딕"/>
              <a:ea typeface="맑은 고딕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f4f2ec"/>
                </a:solidFill>
                <a:latin typeface="맑은 고딕"/>
                <a:ea typeface="맑은 고딕"/>
              </a:rPr>
              <a:t>localStorage 재시도</a:t>
            </a:r>
            <a:endParaRPr sz="1000" b="0">
              <a:solidFill>
                <a:srgbClr val="f4f2ec"/>
              </a:solidFill>
              <a:latin typeface="맑은 고딕"/>
              <a:ea typeface="맑은 고딕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22960" y="329184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500" b="1">
                <a:solidFill>
                  <a:srgbClr val="f2b83e"/>
                </a:solidFill>
                <a:latin typeface="맑은 고딕"/>
                <a:ea typeface="맑은 고딕"/>
              </a:rPr>
              <a:t>정렬 · 검증 규칙</a:t>
            </a:r>
            <a:endParaRPr sz="1500" b="1">
              <a:solidFill>
                <a:srgbClr val="f2b83e"/>
              </a:solidFill>
              <a:latin typeface="맑은 고딕"/>
              <a:ea typeface="맑은 고딕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22960" y="3703320"/>
            <a:ext cx="5212080" cy="9353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/>
            </a:pPr>
            <a:r>
              <a:rPr sz="858" b="1">
                <a:solidFill>
                  <a:srgbClr val="f2b83e"/>
                </a:solidFill>
                <a:latin typeface="맑은 고딕"/>
                <a:ea typeface="맑은 고딕"/>
              </a:rPr>
              <a:t>●  </a:t>
            </a:r>
            <a:r>
              <a:rPr sz="1300" b="1">
                <a:solidFill>
                  <a:srgbClr val="16161f"/>
                </a:solidFill>
                <a:latin typeface="맑은 고딕"/>
                <a:ea typeface="맑은 고딕"/>
              </a:rPr>
              <a:t>정렬</a:t>
            </a:r>
            <a:r>
              <a:rPr sz="1150" b="0">
                <a:solidFill>
                  <a:srgbClr val="5a5c69"/>
                </a:solidFill>
                <a:latin typeface="맑은 고딕"/>
                <a:ea typeface="맑은 고딕"/>
              </a:rPr>
              <a:t>   일차 DESC → 같은 일차면 생존시간 DESC</a:t>
            </a:r>
            <a:endParaRPr sz="115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/>
            </a:pPr>
            <a:r>
              <a:rPr sz="858" b="1">
                <a:solidFill>
                  <a:srgbClr val="f2b83e"/>
                </a:solidFill>
                <a:latin typeface="맑은 고딕"/>
                <a:ea typeface="맑은 고딕"/>
              </a:rPr>
              <a:t>●  </a:t>
            </a:r>
            <a:r>
              <a:rPr sz="1300" b="1">
                <a:solidFill>
                  <a:srgbClr val="16161f"/>
                </a:solidFill>
                <a:latin typeface="맑은 고딕"/>
                <a:ea typeface="맑은 고딕"/>
              </a:rPr>
              <a:t>중복 제거</a:t>
            </a:r>
            <a:r>
              <a:rPr sz="1150" b="0">
                <a:solidFill>
                  <a:srgbClr val="5a5c69"/>
                </a:solidFill>
                <a:latin typeface="맑은 고딕"/>
                <a:ea typeface="맑은 고딕"/>
              </a:rPr>
              <a:t>   닉네임별 최고 기록 1건만 노출</a:t>
            </a:r>
            <a:endParaRPr sz="115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/>
            </a:pPr>
            <a:r>
              <a:rPr sz="858" b="1">
                <a:solidFill>
                  <a:srgbClr val="f2b83e"/>
                </a:solidFill>
                <a:latin typeface="맑은 고딕"/>
                <a:ea typeface="맑은 고딕"/>
              </a:rPr>
              <a:t>●  </a:t>
            </a:r>
            <a:r>
              <a:rPr sz="1300" b="1">
                <a:solidFill>
                  <a:srgbClr val="16161f"/>
                </a:solidFill>
                <a:latin typeface="맑은 고딕"/>
                <a:ea typeface="맑은 고딕"/>
              </a:rPr>
              <a:t>서버 검증</a:t>
            </a:r>
            <a:r>
              <a:rPr sz="1150" b="0">
                <a:solidFill>
                  <a:srgbClr val="5a5c69"/>
                </a:solidFill>
                <a:latin typeface="맑은 고딕"/>
                <a:ea typeface="맑은 고딕"/>
              </a:rPr>
              <a:t>   닉네임 길이, 일차 범위, 최소/최대 플레이시간</a:t>
            </a:r>
            <a:endParaRPr sz="11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309360" y="329184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500" b="1">
                <a:solidFill>
                  <a:srgbClr val="539fe0"/>
                </a:solidFill>
                <a:latin typeface="맑은 고딕"/>
                <a:ea typeface="맑은 고딕"/>
              </a:rPr>
              <a:t>배포 파이프라인</a:t>
            </a:r>
            <a:endParaRPr sz="1500" b="1">
              <a:solidFill>
                <a:srgbClr val="539fe0"/>
              </a:solidFill>
              <a:latin typeface="맑은 고딕"/>
              <a:ea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09360" y="3703320"/>
            <a:ext cx="512064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/>
            </a:pPr>
            <a:r>
              <a:rPr sz="858" b="1">
                <a:solidFill>
                  <a:srgbClr val="539fe0"/>
                </a:solidFill>
                <a:latin typeface="맑은 고딕"/>
                <a:ea typeface="맑은 고딕"/>
              </a:rPr>
              <a:t>●  </a:t>
            </a:r>
            <a:r>
              <a:rPr sz="1300" b="1">
                <a:solidFill>
                  <a:srgbClr val="16161f"/>
                </a:solidFill>
                <a:latin typeface="맑은 고딕"/>
                <a:ea typeface="맑은 고딕"/>
              </a:rPr>
              <a:t>자동 배포</a:t>
            </a:r>
            <a:r>
              <a:rPr sz="1150" b="0">
                <a:solidFill>
                  <a:srgbClr val="5a5c69"/>
                </a:solidFill>
                <a:latin typeface="맑은 고딕"/>
                <a:ea typeface="맑은 고딕"/>
              </a:rPr>
              <a:t>   main push → Cloudflare Pages CI 자동 빌드·배포</a:t>
            </a:r>
            <a:endParaRPr sz="115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/>
            </a:pPr>
            <a:r>
              <a:rPr sz="858" b="1">
                <a:solidFill>
                  <a:srgbClr val="539fe0"/>
                </a:solidFill>
                <a:latin typeface="맑은 고딕"/>
                <a:ea typeface="맑은 고딕"/>
              </a:rPr>
              <a:t>●  </a:t>
            </a:r>
            <a:r>
              <a:rPr sz="1300" b="1">
                <a:solidFill>
                  <a:srgbClr val="16161f"/>
                </a:solidFill>
                <a:latin typeface="맑은 고딕"/>
                <a:ea typeface="맑은 고딕"/>
              </a:rPr>
              <a:t>프리뷰 URL</a:t>
            </a:r>
            <a:r>
              <a:rPr sz="1150" b="0">
                <a:solidFill>
                  <a:srgbClr val="5a5c69"/>
                </a:solidFill>
                <a:latin typeface="맑은 고딕"/>
                <a:ea typeface="맑은 고딕"/>
              </a:rPr>
              <a:t>   PR 브랜치마다 미리보기 주소 — 폰 테스트에 유용</a:t>
            </a:r>
            <a:endParaRPr sz="115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defRPr/>
            </a:pPr>
            <a:r>
              <a:rPr sz="858" b="1">
                <a:solidFill>
                  <a:srgbClr val="539fe0"/>
                </a:solidFill>
                <a:latin typeface="맑은 고딕"/>
                <a:ea typeface="맑은 고딕"/>
              </a:rPr>
              <a:t>●  </a:t>
            </a:r>
            <a:r>
              <a:rPr sz="1300" b="1">
                <a:solidFill>
                  <a:srgbClr val="16161f"/>
                </a:solidFill>
                <a:latin typeface="맑은 고딕"/>
                <a:ea typeface="맑은 고딕"/>
              </a:rPr>
              <a:t>커스텀 도메인</a:t>
            </a:r>
            <a:r>
              <a:rPr sz="1150" b="0">
                <a:solidFill>
                  <a:srgbClr val="5a5c69"/>
                </a:solidFill>
                <a:latin typeface="맑은 고딕"/>
                <a:ea typeface="맑은 고딕"/>
              </a:rPr>
              <a:t>   ygt2025.rokafa.app · 자동 HTTPS로 서비스워커 동작</a:t>
            </a:r>
            <a:endParaRPr sz="11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22960" y="5440680"/>
            <a:ext cx="10698480" cy="731520"/>
          </a:xfrm>
          <a:prstGeom prst="roundRect">
            <a:avLst>
              <a:gd name="adj" fmla="val 8000"/>
            </a:avLst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6" name="TextBox 25"/>
          <p:cNvSpPr txBox="1"/>
          <p:nvPr/>
        </p:nvSpPr>
        <p:spPr>
          <a:xfrm>
            <a:off x="1097280" y="5541264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50" b="1">
                <a:solidFill>
                  <a:srgbClr val="f2b83e"/>
                </a:solidFill>
                <a:latin typeface="맑은 고딕"/>
                <a:ea typeface="맑은 고딕"/>
              </a:rPr>
              <a:t>D1 스키마  </a:t>
            </a:r>
            <a:r>
              <a:rPr sz="1200" b="0">
                <a:solidFill>
                  <a:srgbClr val="f4f2ec"/>
                </a:solidFill>
                <a:latin typeface="Consolas"/>
                <a:ea typeface="Consolas"/>
              </a:rPr>
              <a:t>leaderboard(id, nickname, days, play_ms, created_at)  ·  </a:t>
            </a:r>
            <a:r>
              <a:rPr sz="1200" b="0">
                <a:solidFill>
                  <a:srgbClr val="b9bccc"/>
                </a:solidFill>
                <a:latin typeface="Consolas"/>
                <a:ea typeface="Consolas"/>
              </a:rPr>
              <a:t>INDEX (days DESC, play_ms DESC)</a:t>
            </a:r>
            <a:endParaRPr sz="1200" b="0">
              <a:solidFill>
                <a:srgbClr val="b9bccc"/>
              </a:solidFill>
              <a:latin typeface="Consolas"/>
              <a:ea typeface="Consola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YGT 2025 · 공군사관학교 2학년 생도 서바이벌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728655" y="6400800"/>
            <a:ext cx="82296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1</a:t>
            </a:r>
            <a:r>
              <a:rPr lang="en-US" altLang="ko-KR" sz="1000" b="0">
                <a:solidFill>
                  <a:srgbClr val="5a5c69"/>
                </a:solidFill>
                <a:latin typeface="맑은 고딕"/>
                <a:ea typeface="맑은 고딕"/>
              </a:rPr>
              <a:t>6</a:t>
            </a:r>
            <a:endParaRPr lang="en-US" altLang="ko-KR"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35240" y="0"/>
            <a:ext cx="4556455" cy="6858000"/>
          </a:xfrm>
          <a:prstGeom prst="rect">
            <a:avLst/>
          </a:prstGeom>
          <a:solidFill>
            <a:srgbClr val="26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398764" y="786384"/>
            <a:ext cx="3044952" cy="52852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7940">
            <a:solidFill>
              <a:srgbClr val="16161F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0_dayintro_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060" y="868680"/>
            <a:ext cx="2880360" cy="51206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2960" y="1280160"/>
            <a:ext cx="822960" cy="146304"/>
          </a:xfrm>
          <a:prstGeom prst="roundRect">
            <a:avLst>
              <a:gd name="adj" fmla="val 50000"/>
            </a:avLst>
          </a:prstGeom>
          <a:solidFill>
            <a:srgbClr val="2FB8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554480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  <a:ea typeface="Malgun Gothic"/>
              </a:rPr>
              <a:t>정리하며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65836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990" b="1">
                <a:solidFill>
                  <a:srgbClr val="2FB892"/>
                </a:solidFill>
                <a:latin typeface="Malgun Gothic"/>
                <a:ea typeface="Malgun Gothic"/>
              </a:rPr>
              <a:t>●  </a:t>
            </a:r>
            <a:r>
              <a:rPr sz="1500" b="1">
                <a:solidFill>
                  <a:srgbClr val="F4F2EC"/>
                </a:solidFill>
                <a:latin typeface="Malgun Gothic"/>
                <a:ea typeface="Malgun Gothic"/>
              </a:rPr>
              <a:t>웹 표준만으로 완성</a:t>
            </a:r>
            <a:r>
              <a:rPr sz="1350" b="0">
                <a:solidFill>
                  <a:srgbClr val="B9BCCC"/>
                </a:solidFill>
                <a:latin typeface="Malgun Gothic"/>
                <a:ea typeface="Malgun Gothic"/>
              </a:rPr>
              <a:t>   Phaser + Cloudflare 하나로 게임·서버·배포·설치까지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990" b="1">
                <a:solidFill>
                  <a:srgbClr val="2FB892"/>
                </a:solidFill>
                <a:latin typeface="Malgun Gothic"/>
                <a:ea typeface="Malgun Gothic"/>
              </a:rPr>
              <a:t>●  </a:t>
            </a:r>
            <a:r>
              <a:rPr sz="1500" b="1">
                <a:solidFill>
                  <a:srgbClr val="F4F2EC"/>
                </a:solidFill>
                <a:latin typeface="Malgun Gothic"/>
                <a:ea typeface="Malgun Gothic"/>
              </a:rPr>
              <a:t>AI 아트 파이프라인</a:t>
            </a:r>
            <a:r>
              <a:rPr sz="1350" b="0">
                <a:solidFill>
                  <a:srgbClr val="B9BCCC"/>
                </a:solidFill>
                <a:latin typeface="Malgun Gothic"/>
                <a:ea typeface="Malgun Gothic"/>
              </a:rPr>
              <a:t>   손그림체 78종+를 생성·정제해 게임 에셋으로 정착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990" b="1">
                <a:solidFill>
                  <a:srgbClr val="2FB892"/>
                </a:solidFill>
                <a:latin typeface="Malgun Gothic"/>
                <a:ea typeface="Malgun Gothic"/>
              </a:rPr>
              <a:t>●  </a:t>
            </a:r>
            <a:r>
              <a:rPr sz="1500" b="1">
                <a:solidFill>
                  <a:srgbClr val="F4F2EC"/>
                </a:solidFill>
                <a:latin typeface="Malgun Gothic"/>
                <a:ea typeface="Malgun Gothic"/>
              </a:rPr>
              <a:t>공정한 반응속도 게임</a:t>
            </a:r>
            <a:r>
              <a:rPr sz="1350" b="0">
                <a:solidFill>
                  <a:srgbClr val="B9BCCC"/>
                </a:solidFill>
                <a:latin typeface="Malgun Gothic"/>
                <a:ea typeface="Malgun Gothic"/>
              </a:rPr>
              <a:t>   ‘운빨 사망’ 없이 조여오는 난이도와 온라인 경쟁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800600"/>
            <a:ext cx="6446520" cy="868680"/>
          </a:xfrm>
          <a:prstGeom prst="roundRect">
            <a:avLst>
              <a:gd name="adj" fmla="val 10000"/>
            </a:avLst>
          </a:prstGeom>
          <a:solidFill>
            <a:srgbClr val="262845"/>
          </a:solidFill>
          <a:ln w="19050">
            <a:solidFill>
              <a:srgbClr val="2FB8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919472"/>
            <a:ext cx="6035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FB892"/>
                </a:solidFill>
                <a:latin typeface="Malgun Gothic"/>
                <a:ea typeface="Malgun Gothic"/>
              </a:rPr>
              <a:t>▶ 지금 플레이  </a:t>
            </a: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ygt2025.rokafa.app</a:t>
            </a:r>
            <a:r>
              <a:rPr sz="1200" b="0">
                <a:solidFill>
                  <a:srgbClr val="B9BCCC"/>
                </a:solidFill>
                <a:latin typeface="Malgun Gothic"/>
                <a:ea typeface="Malgun Gothic"/>
              </a:rPr>
              <a:t>  (폰에서 “홈 화면에 추가”)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98932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2B83E"/>
                </a:solidFill>
                <a:latin typeface="Malgun Gothic"/>
                <a:ea typeface="Malgun Gothic"/>
              </a:rPr>
              <a:t>감사합니다 🫡</a:t>
            </a:r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1401</ep:Words>
  <ep:PresentationFormat>On-screen Show (4:3)</ep:PresentationFormat>
  <ep:Paragraphs>263</ep:Paragraphs>
  <ep:Slides>17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ep:HeadingPairs>
  <ep:TitlesOfParts>
    <vt:vector size="18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2013-01-27T09:14:16.000</dcterms:created>
  <dc:description>generated using python-pptx</dc:description>
  <cp:lastModifiedBy>User</cp:lastModifiedBy>
  <dcterms:modified xsi:type="dcterms:W3CDTF">2026-07-23T10:57:29.892</dcterms:modified>
  <cp:revision>5</cp:revision>
  <cp:version/>
</cp:coreProperties>
</file>