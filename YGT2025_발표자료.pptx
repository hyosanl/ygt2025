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125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rgbClr val="26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800" b="1">
                <a:solidFill>
                  <a:srgbClr val="539fe0"/>
                </a:solidFill>
                <a:latin typeface="맑은 고딕"/>
                <a:ea typeface="맑은 고딕"/>
              </a:rPr>
              <a:t>공군사관학교 2학년 생도 서바이벌 미니게임</a:t>
            </a:r>
            <a:endParaRPr sz="1800" b="1">
              <a:solidFill>
                <a:srgbClr val="539fe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2148840"/>
            <a:ext cx="6949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400" b="1">
                <a:solidFill>
                  <a:srgbClr val="ffffff"/>
                </a:solidFill>
                <a:latin typeface="맑은 고딕"/>
                <a:ea typeface="맑은 고딕"/>
              </a:rPr>
              <a:t>YGT 2025</a:t>
            </a:r>
            <a:endParaRPr sz="10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2600" b="1">
                <a:solidFill>
                  <a:srgbClr val="f4f2ec"/>
                </a:solidFill>
                <a:latin typeface="맑은 고딕"/>
                <a:ea typeface="맑은 고딕"/>
              </a:rPr>
              <a:t>“몰래 하다가, </a:t>
            </a:r>
            <a:r>
              <a:rPr sz="2600" b="1">
                <a:solidFill>
                  <a:srgbClr val="e84e6e"/>
                </a:solidFill>
                <a:latin typeface="맑은 고딕"/>
                <a:ea typeface="맑은 고딕"/>
              </a:rPr>
              <a:t>들키기 직전에 멈춰라</a:t>
            </a:r>
            <a:r>
              <a:rPr sz="2600" b="1">
                <a:solidFill>
                  <a:srgbClr val="f4f2ec"/>
                </a:solidFill>
                <a:latin typeface="맑은 고딕"/>
                <a:ea typeface="맑은 고딕"/>
              </a:rPr>
              <a:t>”</a:t>
            </a:r>
            <a:endParaRPr sz="2600" b="1">
              <a:solidFill>
                <a:srgbClr val="f4f2ec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457200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0">
                <a:solidFill>
                  <a:srgbClr val="b9bccc"/>
                </a:solidFill>
                <a:latin typeface="맑은 고딕"/>
                <a:ea typeface="맑은 고딕"/>
              </a:rPr>
              <a:t>선배에게 걸리면 게임 오버. 5종의 메인 퀘스트와 3종의 돌발 미니 퀘스트를</a:t>
            </a:r>
            <a:endParaRPr sz="1500" b="0">
              <a:solidFill>
                <a:srgbClr val="b9bccc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0">
                <a:solidFill>
                  <a:srgbClr val="b9bccc"/>
                </a:solidFill>
                <a:latin typeface="맑은 고딕"/>
                <a:ea typeface="맑은 고딕"/>
              </a:rPr>
              <a:t>반응속도·눈치·운으로 넘기며 하루하루 살아남는 모바일 웹 게임.</a:t>
            </a:r>
            <a:endParaRPr sz="1500" b="0">
              <a:solidFill>
                <a:srgbClr val="b9bccc"/>
              </a:solidFill>
              <a:latin typeface="맑은 고딕"/>
              <a:ea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8" y="5623560"/>
            <a:ext cx="889078" cy="384048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41248" y="5623560"/>
            <a:ext cx="8890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Phaser 3</a:t>
            </a:r>
            <a:endParaRPr sz="12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94918" y="5623560"/>
            <a:ext cx="1074771" cy="384048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94918" y="5623560"/>
            <a:ext cx="10747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TypeScript</a:t>
            </a:r>
            <a:endParaRPr sz="12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34281" y="5623560"/>
            <a:ext cx="424844" cy="384048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134281" y="5623560"/>
            <a:ext cx="4248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PWA</a:t>
            </a:r>
            <a:endParaRPr sz="12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23718" y="5623560"/>
            <a:ext cx="1074771" cy="384048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723718" y="5623560"/>
            <a:ext cx="10747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Cloudflare</a:t>
            </a:r>
            <a:endParaRPr sz="12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" y="6144768"/>
            <a:ext cx="6400800" cy="198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4f2ec"/>
                </a:solidFill>
                <a:latin typeface="맑은 고딕"/>
                <a:ea typeface="맑은 고딕"/>
              </a:rPr>
              <a:t>제작 · 발표  |  </a:t>
            </a:r>
            <a:r>
              <a:rPr lang="en-US" altLang="ko-KR" sz="1300" b="1">
                <a:solidFill>
                  <a:srgbClr val="f4f2ec"/>
                </a:solidFill>
                <a:latin typeface="맑은 고딕"/>
                <a:ea typeface="맑은 고딕"/>
              </a:rPr>
              <a:t>000,</a:t>
            </a:r>
            <a:r>
              <a:rPr lang="ko-KR" altLang="en-US" sz="1300" b="1">
                <a:solidFill>
                  <a:srgbClr val="f4f2ec"/>
                </a:solidFill>
                <a:latin typeface="맑은 고딕"/>
                <a:ea typeface="맑은 고딕"/>
              </a:rPr>
              <a:t> </a:t>
            </a:r>
            <a:r>
              <a:rPr lang="en-US" altLang="ko-KR" sz="1300" b="1">
                <a:solidFill>
                  <a:srgbClr val="f4f2ec"/>
                </a:solidFill>
                <a:latin typeface="맑은 고딕"/>
                <a:ea typeface="맑은 고딕"/>
              </a:rPr>
              <a:t>000,</a:t>
            </a:r>
            <a:r>
              <a:rPr lang="ko-KR" altLang="en-US" sz="1300" b="1">
                <a:solidFill>
                  <a:srgbClr val="f4f2ec"/>
                </a:solidFill>
                <a:latin typeface="맑은 고딕"/>
                <a:ea typeface="맑은 고딕"/>
              </a:rPr>
              <a:t> </a:t>
            </a:r>
            <a:r>
              <a:rPr lang="en-US" altLang="ko-KR" sz="1300" b="1">
                <a:solidFill>
                  <a:srgbClr val="f4f2ec"/>
                </a:solidFill>
                <a:latin typeface="맑은 고딕"/>
                <a:ea typeface="맑은 고딕"/>
              </a:rPr>
              <a:t>000,</a:t>
            </a:r>
            <a:r>
              <a:rPr lang="ko-KR" altLang="en-US" sz="1300" b="1">
                <a:solidFill>
                  <a:srgbClr val="f4f2ec"/>
                </a:solidFill>
                <a:latin typeface="맑은 고딕"/>
                <a:ea typeface="맑은 고딕"/>
              </a:rPr>
              <a:t> </a:t>
            </a:r>
            <a:r>
              <a:rPr lang="en-US" altLang="ko-KR" sz="1300" b="1">
                <a:solidFill>
                  <a:srgbClr val="f4f2ec"/>
                </a:solidFill>
                <a:latin typeface="맑은 고딕"/>
                <a:ea typeface="맑은 고딕"/>
              </a:rPr>
              <a:t>000</a:t>
            </a:r>
            <a:endParaRPr lang="ko-KR" altLang="en-US" sz="1300" b="1">
              <a:solidFill>
                <a:srgbClr val="f4f2ec"/>
              </a:solidFill>
              <a:latin typeface="맑은 고딕"/>
              <a:ea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98764" y="786384"/>
            <a:ext cx="3044952" cy="52852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9" name="Picture 18" descr="01_tit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81060" y="868680"/>
            <a:ext cx="2880360" cy="5120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4E6E"/>
                </a:solidFill>
                <a:latin typeface="Malgun Gothic"/>
                <a:ea typeface="Malgun Gothic"/>
              </a:rPr>
              <a:t>CONCEPT · 게임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머리가 좀 커진 2학년 생도의 몰래하기 서바이벌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84E6E"/>
                </a:solidFill>
                <a:latin typeface="Malgun Gothic"/>
                <a:ea typeface="Malgun Gothic"/>
              </a:rPr>
              <a:t>무엇을 하는 게임인가?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6126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6161F"/>
                </a:solidFill>
                <a:latin typeface="Malgun Gothic"/>
                <a:ea typeface="Malgun Gothic"/>
              </a:rPr>
              <a:t>군사훈련을 마친 공군사관학교 2학년 생도 ‘기태’. 머리가 좀 커져서
샤워장에서 노래를 틀고, 몰래 라면을 끓이고, 벽을 두드리며 장난친다.
하지만 선배에게 딱 걸리는 순간 — 게임 오버.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84E6E"/>
                </a:solidFill>
                <a:latin typeface="Malgun Gothic"/>
                <a:ea typeface="Malgun Gothic"/>
              </a:rPr>
              <a:t>핵심 메커닉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4048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57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450" b="1">
                <a:solidFill>
                  <a:srgbClr val="16161F"/>
                </a:solidFill>
                <a:latin typeface="Malgun Gothic"/>
                <a:ea typeface="Malgun Gothic"/>
              </a:rPr>
              <a:t>몰래 하다 멈추기</a:t>
            </a:r>
            <a:r>
              <a:rPr sz="1300" b="0">
                <a:solidFill>
                  <a:srgbClr val="5A5C69"/>
                </a:solidFill>
                <a:latin typeface="Malgun Gothic"/>
                <a:ea typeface="Malgun Gothic"/>
              </a:rPr>
              <a:t>   「선생님 몰래 춤추기」식 — 위험 순간에만 능동적으로 숨는다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57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450" b="1">
                <a:solidFill>
                  <a:srgbClr val="16161F"/>
                </a:solidFill>
                <a:latin typeface="Malgun Gothic"/>
                <a:ea typeface="Malgun Gothic"/>
              </a:rPr>
              <a:t>예고 없는 등장</a:t>
            </a:r>
            <a:r>
              <a:rPr sz="1300" b="0">
                <a:solidFill>
                  <a:srgbClr val="5A5C69"/>
                </a:solidFill>
                <a:latin typeface="Malgun Gothic"/>
                <a:ea typeface="Malgun Gothic"/>
              </a:rPr>
              <a:t>   선배는 갑자기 나타난다. 0.3~0.7초의 반응 유예가 승부처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57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450" b="1">
                <a:solidFill>
                  <a:srgbClr val="16161F"/>
                </a:solidFill>
                <a:latin typeface="Malgun Gothic"/>
                <a:ea typeface="Malgun Gothic"/>
              </a:rPr>
              <a:t>눈치·운·리듬</a:t>
            </a:r>
            <a:r>
              <a:rPr sz="1300" b="0">
                <a:solidFill>
                  <a:srgbClr val="5A5C69"/>
                </a:solidFill>
                <a:latin typeface="Malgun Gothic"/>
                <a:ea typeface="Malgun Gothic"/>
              </a:rPr>
              <a:t>   견장 읽기, 박자 맞추기, 시야 피하기, 순수 도박까지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00200"/>
            <a:ext cx="4114800" cy="4480560"/>
          </a:xfrm>
          <a:prstGeom prst="roundRect">
            <a:avLst>
              <a:gd name="adj" fmla="val 4500"/>
            </a:avLst>
          </a:prstGeom>
          <a:solidFill>
            <a:srgbClr val="F4F2EC"/>
          </a:solidFill>
          <a:ln w="1905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5A8C"/>
                </a:solidFill>
                <a:latin typeface="Malgun Gothic"/>
                <a:ea typeface="Malgun Gothic"/>
              </a:rPr>
              <a:t>한눈에 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2860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286000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장르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26771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탐지 회피 + 반응 · 리듬 · 운빨 미니게임 모음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898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89864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8803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모바일 웹 PWA · 세로 모드 고정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51129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3511296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493008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‘엄마는 게임을 숨겼다’ 톤 손그림체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12394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123944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10565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생존 일수 (동률이면 오래 버틴 순)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7365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736592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한 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71830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메인 퀘스트 1개 ≈ 10~20초, 짧고 굵게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534924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5349240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33095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6161F"/>
                </a:solidFill>
                <a:latin typeface="Malgun Gothic"/>
                <a:ea typeface="Malgun Gothic"/>
              </a:rPr>
              <a:t>게임 오버 시 온라인 리더보드에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39FE0"/>
                </a:solidFill>
                <a:latin typeface="Malgun Gothic"/>
                <a:ea typeface="Malgun Gothic"/>
              </a:rPr>
              <a:t>CORE LOOP · 게임의 하루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하루에 메인 퀘스트 하나 — 성공하면 내일, 걸리면 리더보드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2E5A8C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082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N일차 아침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2316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4F2EC"/>
                </a:solidFill>
                <a:latin typeface="Malgun Gothic"/>
                <a:ea typeface="Malgun Gothic"/>
              </a:rPr>
              <a:t>HP 100 리셋
오늘의 퀘스트 배정</a:t>
            </a:r>
          </a:p>
        </p:txBody>
      </p:sp>
      <p:sp>
        <p:nvSpPr>
          <p:cNvPr id="10" name="Chevron 9"/>
          <p:cNvSpPr/>
          <p:nvPr/>
        </p:nvSpPr>
        <p:spPr>
          <a:xfrm>
            <a:off x="3127248" y="2286000"/>
            <a:ext cx="457200" cy="411480"/>
          </a:xfrm>
          <a:prstGeom prst="chevron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874519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539FE0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2082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② 메인 퀘스트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2316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4F2EC"/>
                </a:solidFill>
                <a:latin typeface="Malgun Gothic"/>
                <a:ea typeface="Malgun Gothic"/>
              </a:rPr>
              <a:t>샤워·복도·전자레인지
·태권도·벽치기 중 1</a:t>
            </a:r>
          </a:p>
        </p:txBody>
      </p:sp>
      <p:sp>
        <p:nvSpPr>
          <p:cNvPr id="14" name="Chevron 13"/>
          <p:cNvSpPr/>
          <p:nvPr/>
        </p:nvSpPr>
        <p:spPr>
          <a:xfrm>
            <a:off x="6144768" y="2286000"/>
            <a:ext cx="457200" cy="411480"/>
          </a:xfrm>
          <a:prstGeom prst="chevron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1874519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2FB892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2082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③ 성공!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42316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4F2EC"/>
                </a:solidFill>
                <a:latin typeface="Malgun Gothic"/>
                <a:ea typeface="Malgun Gothic"/>
              </a:rPr>
              <a:t>일수 +1
→ 다음 날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836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FB892"/>
                </a:solidFill>
                <a:latin typeface="Malgun Gothic"/>
                <a:ea typeface="Malgun Gothic"/>
              </a:rPr>
              <a:t>↑  성공하면 ①로 돌아가 계속 — 버틴 날이 곧 점수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828799"/>
            <a:ext cx="2148840" cy="1371600"/>
          </a:xfrm>
          <a:prstGeom prst="roundRect">
            <a:avLst>
              <a:gd name="adj" fmla="val 9000"/>
            </a:avLst>
          </a:prstGeom>
          <a:solidFill>
            <a:srgbClr val="F4F2EC"/>
          </a:solidFill>
          <a:ln w="25400">
            <a:solidFill>
              <a:srgbClr val="F2B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476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83E"/>
                </a:solidFill>
                <a:latin typeface="Malgun Gothic"/>
                <a:ea typeface="Malgun Gothic"/>
              </a:rPr>
              <a:t>📳 돌발 미니 퀘스트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33172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6161F"/>
                </a:solidFill>
                <a:latin typeface="Malgun Gothic"/>
                <a:ea typeface="Malgun Gothic"/>
              </a:rPr>
              <a:t>메인 퀘 도중 무작위 난입.
일수↑일수록 자주 등장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7947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84E6E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94106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✕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4343400"/>
            <a:ext cx="2112263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4F2EC"/>
                </a:solidFill>
                <a:latin typeface="Malgun Gothic"/>
                <a:ea typeface="Malgun Gothic"/>
              </a:rPr>
              <a:t>발각 · HP 0
· 미니 퀘 실패</a:t>
            </a:r>
          </a:p>
        </p:txBody>
      </p:sp>
      <p:sp>
        <p:nvSpPr>
          <p:cNvPr id="25" name="Chevron 24"/>
          <p:cNvSpPr/>
          <p:nvPr/>
        </p:nvSpPr>
        <p:spPr>
          <a:xfrm>
            <a:off x="6144768" y="4114800"/>
            <a:ext cx="457200" cy="411480"/>
          </a:xfrm>
          <a:prstGeom prst="chevron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37947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6161F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94106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게임 오버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4343400"/>
            <a:ext cx="2112263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9BCCC"/>
                </a:solidFill>
                <a:latin typeface="Malgun Gothic"/>
                <a:ea typeface="Malgun Gothic"/>
              </a:rPr>
              <a:t>생존 일수 기록
리더보드 등록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88620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목숨(하트)이 남아 있으면
1칸 소모하고 같은 날 부활</a:t>
            </a:r>
          </a:p>
        </p:txBody>
      </p:sp>
      <p:sp>
        <p:nvSpPr>
          <p:cNvPr id="30" name="Chevron 29"/>
          <p:cNvSpPr/>
          <p:nvPr/>
        </p:nvSpPr>
        <p:spPr>
          <a:xfrm rot="10800000">
            <a:off x="3346704" y="4114800"/>
            <a:ext cx="384048" cy="411480"/>
          </a:xfrm>
          <a:prstGeom prst="chevron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5212080"/>
            <a:ext cx="10835640" cy="868680"/>
          </a:xfrm>
          <a:prstGeom prst="roundRect">
            <a:avLst>
              <a:gd name="adj" fmla="val 10000"/>
            </a:avLst>
          </a:prstGeom>
          <a:solidFill>
            <a:srgbClr val="26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321808"/>
            <a:ext cx="10332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B83E"/>
                </a:solidFill>
                <a:latin typeface="Malgun Gothic"/>
                <a:ea typeface="Malgun Gothic"/>
              </a:rPr>
              <a:t>점수 = 생존 일수. </a:t>
            </a:r>
            <a:r>
              <a:rPr sz="1400" b="0">
                <a:solidFill>
                  <a:srgbClr val="F4F2EC"/>
                </a:solidFill>
                <a:latin typeface="Malgun Gothic"/>
                <a:ea typeface="Malgun Gothic"/>
              </a:rPr>
              <a:t>같은 일차라면 </a:t>
            </a: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“더 오래 버틴 쪽”</a:t>
            </a:r>
            <a:r>
              <a:rPr sz="1400" b="0">
                <a:solidFill>
                  <a:srgbClr val="B9BCCC"/>
                </a:solidFill>
                <a:latin typeface="Malgun Gothic"/>
                <a:ea typeface="Malgun Gothic"/>
              </a:rPr>
              <a:t>이 상위 — 예) 7일차 15초  &gt;  7일차 14초  &gt;  6일차 15초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e84e6e"/>
                </a:solidFill>
                <a:latin typeface="맑은 고딕"/>
                <a:ea typeface="맑은 고딕"/>
              </a:rPr>
              <a:t>MAIN QUESTS · 메인 퀘스트</a:t>
            </a:r>
            <a:endParaRPr sz="13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매일 하나씩 주어지는 5종의 서바이벌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084831" cy="1965960"/>
          </a:xfrm>
          <a:prstGeom prst="roundRect">
            <a:avLst>
              <a:gd name="adj" fmla="val 7000"/>
            </a:avLst>
          </a:prstGeom>
          <a:solidFill>
            <a:srgbClr val="f4f2ec"/>
          </a:solidFill>
          <a:ln w="1905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2084831" cy="128016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084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400" b="0">
                <a:solidFill>
                  <a:srgbClr val="16161f"/>
                </a:solidFill>
                <a:latin typeface="맑은 고딕"/>
                <a:ea typeface="맑은 고딕"/>
              </a:rPr>
              <a:t>🚿</a:t>
            </a:r>
            <a:endParaRPr sz="3400" b="0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Q1 · 샤워장 노래</a:t>
            </a:r>
            <a:endParaRPr sz="13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971800"/>
            <a:ext cx="1828799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노래 틀고 씻다가 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선배가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 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나타나면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 노래를 멈춘다</a:t>
            </a:r>
            <a:r>
              <a:rPr lang="en-US" altLang="ko-KR" sz="1100" b="0">
                <a:solidFill>
                  <a:srgbClr val="5a5c69"/>
                </a:solidFill>
                <a:latin typeface="맑은 고딕"/>
                <a:ea typeface="맑은 고딕"/>
              </a:rPr>
              <a:t>.</a:t>
            </a:r>
            <a:endParaRPr lang="en-US" altLang="ko-KR" sz="11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80359" y="1691640"/>
            <a:ext cx="2084831" cy="1965960"/>
          </a:xfrm>
          <a:prstGeom prst="roundRect">
            <a:avLst>
              <a:gd name="adj" fmla="val 7000"/>
            </a:avLst>
          </a:prstGeom>
          <a:solidFill>
            <a:srgbClr val="f4f2ec"/>
          </a:solidFill>
          <a:ln w="1905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2880359" y="1691640"/>
            <a:ext cx="2084831" cy="128016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880359" y="1874519"/>
            <a:ext cx="2084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endParaRPr sz="3400" b="0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90087" y="25420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Q2 · 복도 인사·경례</a:t>
            </a:r>
            <a:endParaRPr sz="13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08375" y="2971800"/>
            <a:ext cx="18287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다가오는 상대의 견장을 읽어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1·2줄=인사 / 3줄=경례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02351" y="1691640"/>
            <a:ext cx="2084831" cy="1965960"/>
          </a:xfrm>
          <a:prstGeom prst="roundRect">
            <a:avLst>
              <a:gd name="adj" fmla="val 7000"/>
            </a:avLst>
          </a:prstGeom>
          <a:solidFill>
            <a:srgbClr val="f4f2ec"/>
          </a:solidFill>
          <a:ln w="1905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5102351" y="1691640"/>
            <a:ext cx="2084831" cy="128016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102351" y="1874519"/>
            <a:ext cx="2084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400" b="0">
                <a:solidFill>
                  <a:srgbClr val="16161f"/>
                </a:solidFill>
                <a:latin typeface="맑은 고딕"/>
                <a:ea typeface="맑은 고딕"/>
              </a:rPr>
              <a:t>🍜</a:t>
            </a:r>
            <a:endParaRPr sz="3400" b="0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79" y="2542032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Q3 · </a:t>
            </a:r>
            <a:r>
              <a:rPr lang="ko-KR" altLang="en-US" sz="1350" b="1">
                <a:solidFill>
                  <a:srgbClr val="16161f"/>
                </a:solidFill>
                <a:latin typeface="맑은 고딕"/>
                <a:ea typeface="맑은 고딕"/>
              </a:rPr>
              <a:t>완소전 </a:t>
            </a: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전자레인지</a:t>
            </a:r>
            <a:endParaRPr sz="13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0367" y="2971800"/>
            <a:ext cx="1828799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몰래 라면 조리. 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훈육관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 오면 세탁실로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 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숨고, 소등 전 100% 채우기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24344" y="1691640"/>
            <a:ext cx="2084831" cy="1965960"/>
          </a:xfrm>
          <a:prstGeom prst="roundRect">
            <a:avLst>
              <a:gd name="adj" fmla="val 7000"/>
            </a:avLst>
          </a:prstGeom>
          <a:solidFill>
            <a:srgbClr val="f4f2ec"/>
          </a:solidFill>
          <a:ln w="1905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Rounded Rectangle 22"/>
          <p:cNvSpPr/>
          <p:nvPr/>
        </p:nvSpPr>
        <p:spPr>
          <a:xfrm>
            <a:off x="7324344" y="1691640"/>
            <a:ext cx="2084831" cy="128016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324344" y="1874519"/>
            <a:ext cx="2084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400" b="0">
                <a:solidFill>
                  <a:srgbClr val="16161f"/>
                </a:solidFill>
                <a:latin typeface="맑은 고딕"/>
                <a:ea typeface="맑은 고딕"/>
              </a:rPr>
              <a:t>🥋</a:t>
            </a:r>
            <a:endParaRPr sz="3400" b="0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34071" y="2542032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Q4 · 태권도장 </a:t>
            </a:r>
            <a:r>
              <a:rPr lang="ko-KR" altLang="en-US" sz="1350" b="1">
                <a:solidFill>
                  <a:srgbClr val="16161f"/>
                </a:solidFill>
                <a:latin typeface="맑은 고딕"/>
                <a:ea typeface="맑은 고딕"/>
              </a:rPr>
              <a:t>걸어가기</a:t>
            </a:r>
            <a:endParaRPr lang="ko-KR" altLang="en-US" sz="13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52360" y="2971800"/>
            <a:ext cx="1828799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선배 시야(부채꼴)를 피해 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무도장까지 걸어서 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이동.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546336" y="1691640"/>
            <a:ext cx="2084831" cy="1965960"/>
          </a:xfrm>
          <a:prstGeom prst="roundRect">
            <a:avLst>
              <a:gd name="adj" fmla="val 7000"/>
            </a:avLst>
          </a:prstGeom>
          <a:solidFill>
            <a:srgbClr val="f4f2ec"/>
          </a:solidFill>
          <a:ln w="1905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Rounded Rectangle 27"/>
          <p:cNvSpPr/>
          <p:nvPr/>
        </p:nvSpPr>
        <p:spPr>
          <a:xfrm>
            <a:off x="9546336" y="1691640"/>
            <a:ext cx="2084831" cy="128016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546336" y="1874519"/>
            <a:ext cx="2084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400" b="0">
                <a:solidFill>
                  <a:srgbClr val="16161f"/>
                </a:solidFill>
                <a:latin typeface="맑은 고딕"/>
                <a:ea typeface="맑은 고딕"/>
              </a:rPr>
              <a:t>💥</a:t>
            </a:r>
            <a:endParaRPr sz="3400" b="0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56063" y="2542032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Q5 · </a:t>
            </a:r>
            <a:r>
              <a:rPr lang="ko-KR" altLang="en-US" sz="1350" b="1">
                <a:solidFill>
                  <a:srgbClr val="16161f"/>
                </a:solidFill>
                <a:latin typeface="맑은 고딕"/>
                <a:ea typeface="맑은 고딕"/>
              </a:rPr>
              <a:t>옆방 </a:t>
            </a:r>
            <a:r>
              <a:rPr sz="1350" b="1">
                <a:solidFill>
                  <a:srgbClr val="16161f"/>
                </a:solidFill>
                <a:latin typeface="맑은 고딕"/>
                <a:ea typeface="맑은 고딕"/>
              </a:rPr>
              <a:t>벽치기</a:t>
            </a:r>
            <a:endParaRPr sz="13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74352" y="2971800"/>
            <a:ext cx="18287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박자에 맞춰 </a:t>
            </a:r>
            <a:r>
              <a:rPr lang="ko-KR" altLang="en-US" sz="1100" b="0">
                <a:solidFill>
                  <a:srgbClr val="5a5c69"/>
                </a:solidFill>
                <a:latin typeface="맑은 고딕"/>
                <a:ea typeface="맑은 고딕"/>
              </a:rPr>
              <a:t>버튼을</a:t>
            </a: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 탭.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00" b="0">
                <a:solidFill>
                  <a:srgbClr val="5a5c69"/>
                </a:solidFill>
                <a:latin typeface="맑은 고딕"/>
                <a:ea typeface="맑은 고딕"/>
              </a:rPr>
              <a:t>미스 3번=발각 · 노미스=하트+1</a:t>
            </a:r>
            <a:endParaRPr sz="11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3977639"/>
            <a:ext cx="10881360" cy="1874519"/>
          </a:xfrm>
          <a:prstGeom prst="roundRect">
            <a:avLst>
              <a:gd name="adj" fmla="val 5000"/>
            </a:avLst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005840" y="41605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f2b83e"/>
                </a:solidFill>
                <a:latin typeface="맑은 고딕"/>
                <a:ea typeface="맑은 고딕"/>
              </a:rPr>
              <a:t>5종 공통 설계 원칙</a:t>
            </a:r>
            <a:endParaRPr sz="15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461772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•  짧고 굵게  </a:t>
            </a:r>
            <a:r>
              <a:rPr sz="1200" b="0">
                <a:solidFill>
                  <a:srgbClr val="b9bccc"/>
                </a:solidFill>
                <a:latin typeface="맑은 고딕"/>
                <a:ea typeface="맑은 고딕"/>
              </a:rPr>
              <a:t>한 판 10~20초. 리듬을 끊지 않도록 인트로도 자동 진행</a:t>
            </a:r>
            <a:endParaRPr sz="1200" b="0">
              <a:solidFill>
                <a:srgbClr val="b9bccc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55079" y="461772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•  예고 없는 등장  </a:t>
            </a:r>
            <a:r>
              <a:rPr sz="1200" b="0">
                <a:solidFill>
                  <a:srgbClr val="b9bccc"/>
                </a:solidFill>
                <a:latin typeface="맑은 고딕"/>
                <a:ea typeface="맑은 고딕"/>
              </a:rPr>
              <a:t>경고 게이지 없음. 여러 지점(양쪽 문·커튼·복도) 중 무작위</a:t>
            </a:r>
            <a:endParaRPr sz="1200" b="0">
              <a:solidFill>
                <a:srgbClr val="b9bccc"/>
              </a:solidFill>
              <a:latin typeface="맑은 고딕"/>
              <a:ea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5840" y="521208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•  반응 유예  </a:t>
            </a:r>
            <a:r>
              <a:rPr sz="1200" b="0">
                <a:solidFill>
                  <a:srgbClr val="b9bccc"/>
                </a:solidFill>
                <a:latin typeface="맑은 고딕"/>
                <a:ea typeface="맑은 고딕"/>
              </a:rPr>
              <a:t>등장 순간부터 0.26~0.76초 안에 올바른 대응 — 반응속도 테스트</a:t>
            </a:r>
            <a:endParaRPr sz="1200" b="0">
              <a:solidFill>
                <a:srgbClr val="b9bccc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5079" y="521208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•  공정성 보정  </a:t>
            </a:r>
            <a:r>
              <a:rPr sz="1200" b="0">
                <a:solidFill>
                  <a:srgbClr val="b9bccc"/>
                </a:solidFill>
                <a:latin typeface="맑은 고딕"/>
                <a:ea typeface="맑은 고딕"/>
              </a:rPr>
              <a:t>조우 사이 최소 회복시간·시야 점유율 상한으로 ‘운빨 사망’ 차단</a:t>
            </a:r>
            <a:endParaRPr sz="1200" b="0">
              <a:solidFill>
                <a:srgbClr val="b9bccc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04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pic>
        <p:nvPicPr>
          <p:cNvPr id="40" name="Picture 39" descr="salut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09" y="1920240"/>
            <a:ext cx="487929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39FE0"/>
                </a:solidFill>
                <a:latin typeface="Malgun Gothic"/>
                <a:ea typeface="Malgun Gothic"/>
              </a:rPr>
              <a:t>MAIN QUEST 1 · 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샤워장에서 몰래 노래 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873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sh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033" y="1481328"/>
            <a:ext cx="2751772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18441" y="2112264"/>
            <a:ext cx="2170557" cy="3730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b_shower_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7" y="2194560"/>
            <a:ext cx="2005965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1572768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39FE0"/>
                </a:solidFill>
                <a:latin typeface="Malgun Gothic"/>
                <a:ea typeface="Malgun Gothic"/>
              </a:rPr>
              <a:t>플레이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57400"/>
            <a:ext cx="4892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노래는 기본 재생</a:t>
            </a:r>
            <a:r>
              <a:rPr sz="1350" b="0">
                <a:solidFill>
                  <a:srgbClr val="5A5C69"/>
                </a:solidFill>
                <a:latin typeface="Malgun Gothic"/>
                <a:ea typeface="Malgun Gothic"/>
              </a:rPr>
              <a:t>   제한된 샤워 시간 안에 노래를 100%까지 재생하면 성공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숨기는 순간에만 개입</a:t>
            </a:r>
            <a:r>
              <a:rPr sz="1350" b="0">
                <a:solidFill>
                  <a:srgbClr val="5A5C69"/>
                </a:solidFill>
                <a:latin typeface="Malgun Gothic"/>
                <a:ea typeface="Malgun Gothic"/>
              </a:rPr>
              <a:t>   선배가 정문·옆칸 커튼에 등장하면 ⏸ 버튼을 꾹 — 손 떼면 다시 재생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나갈 때까지 유지</a:t>
            </a:r>
            <a:r>
              <a:rPr sz="1350" b="0">
                <a:solidFill>
                  <a:srgbClr val="5A5C69"/>
                </a:solidFill>
                <a:latin typeface="Malgun Gothic"/>
                <a:ea typeface="Malgun Gothic"/>
              </a:rPr>
              <a:t>   선배가 화면에 있는 동안 계속 홀드. 먼저 떼도 발각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반응 유예</a:t>
            </a:r>
            <a:r>
              <a:rPr sz="1350" b="0">
                <a:solidFill>
                  <a:srgbClr val="5A5C69"/>
                </a:solidFill>
                <a:latin typeface="Malgun Gothic"/>
                <a:ea typeface="Malgun Gothic"/>
              </a:rPr>
              <a:t>   커튼 쪽은 더 가까워 유예가 더 짧다 (일차↑ → 단축)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749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5C69"/>
                </a:solidFill>
                <a:latin typeface="Malgun Gothic"/>
                <a:ea typeface="Malgun Gothic"/>
              </a:rPr>
              <a:t>💡 “몰래 춤추기”의 반전 구조 — 평소엔 노래가 저절로 흐르고,
플레이어는 위험한 순간에만 능동적으로 숨는다.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2fb892"/>
                </a:solidFill>
                <a:latin typeface="맑은 고딕"/>
                <a:ea typeface="맑은 고딕"/>
              </a:rPr>
              <a:t>MAIN QUEST 2 · 🫡</a:t>
            </a:r>
            <a:endParaRPr sz="13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복도에서 어깨 힘주고 인사받기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873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03_hallway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71033" y="1481328"/>
            <a:ext cx="275177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1572768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2fb892"/>
                </a:solidFill>
                <a:latin typeface="맑은 고딕"/>
                <a:ea typeface="맑은 고딕"/>
              </a:rPr>
              <a:t>플레이 방법</a:t>
            </a:r>
            <a:endParaRPr sz="16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6903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fb892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양옆 문에서 등장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사람들이 일정한 박자로 나와 2박자 만에 내 앞에 도착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fb892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견장을 읽어라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1줄 후배·2줄 동기 → 🙇 인사 / 3줄 선배 → 🫡 경례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fb892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박자 판정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도착하는 박자 ±판정창 안에 올바른 응대를 눌러야 성공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fb892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치명적 실수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선배에게 늦게 경례 = 즉시 게임 오버. 미리 눌러도 실수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06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2b83e"/>
                </a:solidFill>
                <a:latin typeface="맑은 고딕"/>
                <a:ea typeface="맑은 고딕"/>
              </a:rPr>
              <a:t>MAIN QUEST 3 · 🍜</a:t>
            </a:r>
            <a:endParaRPr sz="13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lang="ko-KR" altLang="en-US" sz="3000" b="1">
                <a:solidFill>
                  <a:srgbClr val="16161f"/>
                </a:solidFill>
                <a:latin typeface="맑은 고딕"/>
                <a:ea typeface="맑은 고딕"/>
              </a:rPr>
              <a:t>완전소등 직전 </a:t>
            </a: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전자레인지 돌리기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873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05_microwav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71033" y="1481328"/>
            <a:ext cx="275177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1572768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f2b83e"/>
                </a:solidFill>
                <a:latin typeface="맑은 고딕"/>
                <a:ea typeface="맑은 고딕"/>
              </a:rPr>
              <a:t>플레이 방법</a:t>
            </a:r>
            <a:endParaRPr sz="16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6903720" cy="1076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f2b83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조리 게이지 채우기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전자레인지 앞에 있을 때만 조리 게이지가 오른다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f2b83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세탁실은 은신처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복도 세 지점 중 무작위로 </a:t>
            </a:r>
            <a:r>
              <a:rPr lang="ko-KR" altLang="en-US" sz="1350" b="0">
                <a:solidFill>
                  <a:srgbClr val="5a5c69"/>
                </a:solidFill>
                <a:latin typeface="맑은 고딕"/>
                <a:ea typeface="맑은 고딕"/>
              </a:rPr>
              <a:t>훈육관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등장 → 버튼을 꾹 눌러 숨기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f2b83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소등 전 완료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완전 소등 타이머가 끝나기 전에 조리를 마쳐야 한다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07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e84e6e"/>
                </a:solidFill>
                <a:latin typeface="맑은 고딕"/>
                <a:ea typeface="맑은 고딕"/>
              </a:rPr>
              <a:t>MAIN QUEST 4 · 🥋</a:t>
            </a:r>
            <a:endParaRPr sz="13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태권도장까지 걸어가기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873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06_walk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71033" y="1481328"/>
            <a:ext cx="275177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1572768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e84e6e"/>
                </a:solidFill>
                <a:latin typeface="맑은 고딕"/>
                <a:ea typeface="맑은 고딕"/>
              </a:rPr>
              <a:t>플레이 방법</a:t>
            </a:r>
            <a:endParaRPr sz="16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6903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e84e6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걸어서 전진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평소엔 걷기 상태로 도착 게이지를 천천히 채운다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e84e6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변칙 시야 회피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길가 선배의 시야(부채꼴)가 CCTV처럼 변칙적으로 회전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e84e6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걸리면 뛰어라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시야에 걸린 채 걸으면 발각! 화면을 꾹 눌러 구보로 돌파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e84e6e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자원 관리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구보는 HP 소모 · 사각지대에서 걸으면 HP 회복 — 홀드 조작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08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2e5a8c"/>
                </a:solidFill>
                <a:latin typeface="맑은 고딕"/>
                <a:ea typeface="맑은 고딕"/>
              </a:rPr>
              <a:t>MAIN QUEST 5 · 💥</a:t>
            </a:r>
            <a:endParaRPr sz="13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옆방(1학년 방) 벽 치기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873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07_wallpunch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71033" y="1481328"/>
            <a:ext cx="275177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1572768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2e5a8c"/>
                </a:solidFill>
                <a:latin typeface="맑은 고딕"/>
                <a:ea typeface="맑은 고딕"/>
              </a:rPr>
              <a:t>플레이 방법</a:t>
            </a:r>
            <a:endParaRPr sz="16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6903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e5a8c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소등 후 침대에서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옆방과 맞닿은 벽을 주먹으로 쿵쿵 치는 장난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e5a8c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노트 높이 탭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샤워장 노래 박자에 맞춰 👊 노트가 판정 링으로 흘러온다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e5a8c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닿는 순간 그 높이를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링에 닿는 순간 해당 높이(레인)를 정확히 탭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989" b="1">
                <a:solidFill>
                  <a:srgbClr val="2e5a8c"/>
                </a:solidFill>
                <a:latin typeface="맑은 고딕"/>
                <a:ea typeface="맑은 고딕"/>
              </a:rPr>
              <a:t>●  </a:t>
            </a: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미스 3번 = 발각</a:t>
            </a:r>
            <a:r>
              <a:rPr sz="1350" b="0">
                <a:solidFill>
                  <a:srgbClr val="5a5c69"/>
                </a:solidFill>
                <a:latin typeface="맑은 고딕"/>
                <a:ea typeface="맑은 고딕"/>
              </a:rPr>
              <a:t>   놓침·엇박·자리 틀림 3번이면 발각 · 노미스면 하트 +1칸</a:t>
            </a:r>
            <a:endParaRPr sz="13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09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f2b83e"/>
                </a:solidFill>
                <a:latin typeface="맑은 고딕"/>
                <a:ea typeface="맑은 고딕"/>
              </a:rPr>
              <a:t>MINI QUESTS · 돌발 미니 퀘스트</a:t>
            </a:r>
            <a:endParaRPr sz="13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메인 퀘스트 도중 난입하는 3종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27855" y="1399032"/>
            <a:ext cx="2041969" cy="3502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Picture 7" descr="08_kakao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0151" y="1481328"/>
            <a:ext cx="1877377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9834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16161f"/>
                </a:solidFill>
                <a:latin typeface="맑은 고딕"/>
                <a:ea typeface="맑은 고딕"/>
              </a:rPr>
              <a:t>💬 카톡 답장</a:t>
            </a:r>
            <a:endParaRPr sz="16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53949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제한 시간 안에 선배 메시지에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정확히 타이핑. 실제 가상 키보드로!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68335" y="1399032"/>
            <a:ext cx="2041969" cy="3502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11" descr="09_vot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50631" y="1481328"/>
            <a:ext cx="1877377" cy="3337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60" y="49834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16161f"/>
                </a:solidFill>
                <a:latin typeface="맑은 고딕"/>
                <a:ea typeface="맑은 고딕"/>
              </a:rPr>
              <a:t>🗳️ 함정 투표</a:t>
            </a:r>
            <a:endParaRPr sz="16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06240" y="53949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이중·삼중 부정문으로 꼬인 선지 중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의미가 맞는 답을 골라야 한다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08815" y="1399032"/>
            <a:ext cx="2041969" cy="35021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6" name="Picture 15" descr="10_photo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91111" y="1481328"/>
            <a:ext cx="1877377" cy="3337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2440" y="49834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600" b="1">
                <a:solidFill>
                  <a:srgbClr val="16161f"/>
                </a:solidFill>
                <a:latin typeface="맑은 고딕"/>
                <a:ea typeface="맑은 고딕"/>
              </a:rPr>
              <a:t>📸 사진 고르기</a:t>
            </a:r>
            <a:endParaRPr sz="16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0" y="53949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제대로 정리된 관물대 고르기 /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0">
                <a:solidFill>
                  <a:srgbClr val="5a5c69"/>
                </a:solidFill>
                <a:latin typeface="맑은 고딕"/>
                <a:ea typeface="맑은 고딕"/>
              </a:rPr>
              <a:t>틀린 부분 찾기 (틀린그림찾기)</a:t>
            </a:r>
            <a:endParaRPr sz="12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6172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2e5a8c"/>
                </a:solidFill>
                <a:latin typeface="맑은 고딕"/>
                <a:ea typeface="맑은 고딕"/>
              </a:rPr>
              <a:t>실패 시 목숨 1칸 차감 후 그날은 계속 — UI는 실제 카카오톡 화면을 최대한 그대로 옮겼다.</a:t>
            </a:r>
            <a:endParaRPr sz="12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10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4E6E"/>
                </a:solidFill>
                <a:latin typeface="Malgun Gothic"/>
                <a:ea typeface="Malgun Gothic"/>
              </a:rPr>
              <a:t>SYSTEMS · 목숨 · 난이도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죽어도 한 번 더 — 그리고 갈수록 조여오는 난이도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3057" y="1399032"/>
            <a:ext cx="2916364" cy="5056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353" y="1481328"/>
            <a:ext cx="275177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15544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84E6E"/>
                </a:solidFill>
                <a:latin typeface="Malgun Gothic"/>
                <a:ea typeface="Malgun Gothic"/>
              </a:rPr>
              <a:t>❤️ 목숨(하트)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6766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부분 채움 하트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하트 1개 = 5칸, 최대 3칸 · ⅕ 단위로 관리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사망 후 부활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죽으면 1칸 소모 — 온전한 하트 남으면 부활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E84E6E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칸을 벌어라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벽치기 노미스 +1칸 · 미니 퀘 성공 +⅕ / 실패 −1칸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404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39FE0"/>
                </a:solidFill>
                <a:latin typeface="Malgun Gothic"/>
                <a:ea typeface="Malgun Gothic"/>
              </a:rPr>
              <a:t>📈 난이도 스케일링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79392"/>
            <a:ext cx="6766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일수가 곧 난이도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일차↑ → 선배 등장 잦고 빠르게, 유예·제한시간 단축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전역 손잡이 하나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config.ts의 DIFF_SCALE로 전체 난이도 일괄 조절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891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50" b="1">
                <a:solidFill>
                  <a:srgbClr val="16161F"/>
                </a:solidFill>
                <a:latin typeface="Malgun Gothic"/>
                <a:ea typeface="Malgun Gothic"/>
              </a:rPr>
              <a:t>공정성 우선</a:t>
            </a:r>
            <a:r>
              <a:rPr sz="1200" b="0">
                <a:solidFill>
                  <a:srgbClr val="5A5C69"/>
                </a:solidFill>
                <a:latin typeface="Malgun Gothic"/>
                <a:ea typeface="Malgun Gothic"/>
              </a:rPr>
              <a:t>   클리어 경로가 보장되게 조우 빈도를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539fe0"/>
                </a:solidFill>
                <a:latin typeface="맑은 고딕"/>
                <a:ea typeface="맑은 고딕"/>
              </a:rPr>
              <a:t>TECH STACK · 사용한 도구</a:t>
            </a:r>
            <a:endParaRPr sz="1300" b="1">
              <a:solidFill>
                <a:srgbClr val="539fe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3000" b="1">
                <a:solidFill>
                  <a:srgbClr val="16161f"/>
                </a:solidFill>
                <a:latin typeface="맑은 고딕"/>
                <a:ea typeface="맑은 고딕"/>
              </a:rPr>
              <a:t>Windows에서 폰까지, 서버 없이 리더보드까지</a:t>
            </a:r>
            <a:endParaRPr sz="30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Phaser 3   </a:t>
            </a:r>
            <a:r>
              <a:rPr sz="1100" b="1">
                <a:solidFill>
                  <a:srgbClr val="539fe0"/>
                </a:solidFill>
                <a:latin typeface="맑은 고딕"/>
                <a:ea typeface="맑은 고딕"/>
              </a:rPr>
              <a:t>2D 게임 엔진</a:t>
            </a:r>
            <a:endParaRPr sz="1100" b="1">
              <a:solidFill>
                <a:srgbClr val="539fe0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씬·물리·입력·렌더링. 720×1280 세로 캔버스 FIT 스케일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4315968" y="1572768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590288" y="170078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TypeScript   </a:t>
            </a:r>
            <a:r>
              <a:rPr sz="1100" b="1">
                <a:solidFill>
                  <a:srgbClr val="2e5a8c"/>
                </a:solidFill>
                <a:latin typeface="맑은 고딕"/>
                <a:ea typeface="맑은 고딕"/>
              </a:rPr>
              <a:t>타입 안전</a:t>
            </a:r>
            <a:endParaRPr sz="11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클라이언트 + 서버 함수 모두 strict 모드로 작성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73568" y="1572768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Rounded Rectangle 15"/>
          <p:cNvSpPr/>
          <p:nvPr/>
        </p:nvSpPr>
        <p:spPr>
          <a:xfrm>
            <a:off x="7973568" y="1572768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Vite   </a:t>
            </a:r>
            <a:r>
              <a:rPr sz="1100" b="1">
                <a:solidFill>
                  <a:srgbClr val="f2b83e"/>
                </a:solidFill>
                <a:latin typeface="맑은 고딕"/>
                <a:ea typeface="맑은 고딕"/>
              </a:rPr>
              <a:t>빌드 · 개발</a:t>
            </a:r>
            <a:endParaRPr sz="11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번들링 + 핫리로드, --host로 같은 Wi-Fi 폰 테스트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299008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Rounded Rectangle 19"/>
          <p:cNvSpPr/>
          <p:nvPr/>
        </p:nvSpPr>
        <p:spPr>
          <a:xfrm>
            <a:off x="658368" y="299008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932688" y="311810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vite-plugin-pwa   </a:t>
            </a:r>
            <a:r>
              <a:rPr sz="1100" b="1">
                <a:solidFill>
                  <a:srgbClr val="2fb892"/>
                </a:solidFill>
                <a:latin typeface="맑은 고딕"/>
                <a:ea typeface="맑은 고딕"/>
              </a:rPr>
              <a:t>설치형 앱</a:t>
            </a:r>
            <a:endParaRPr sz="11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" y="353872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서비스워커·매니페스트 — 홈 화면 추가 · 오프라인 플레이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15968" y="299008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4315968" y="299008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590288" y="311810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Cloudflare Pages   </a:t>
            </a:r>
            <a:r>
              <a:rPr sz="1100" b="1">
                <a:solidFill>
                  <a:srgbClr val="f2b83e"/>
                </a:solidFill>
                <a:latin typeface="맑은 고딕"/>
                <a:ea typeface="맑은 고딕"/>
              </a:rPr>
              <a:t>호스팅 · 배포</a:t>
            </a:r>
            <a:endParaRPr sz="11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90288" y="353872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GitHub push → 자동 배포, 커스텀 도메인 자동 HTTPS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73568" y="299008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Rounded Rectangle 27"/>
          <p:cNvSpPr/>
          <p:nvPr/>
        </p:nvSpPr>
        <p:spPr>
          <a:xfrm>
            <a:off x="7973568" y="299008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8247888" y="311810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Pages Functions   </a:t>
            </a:r>
            <a:r>
              <a:rPr sz="1100" b="1">
                <a:solidFill>
                  <a:srgbClr val="e84e6e"/>
                </a:solidFill>
                <a:latin typeface="맑은 고딕"/>
                <a:ea typeface="맑은 고딕"/>
              </a:rPr>
              <a:t>서버리스 API</a:t>
            </a:r>
            <a:endParaRPr sz="11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47888" y="353872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/api/leaderboard 조회·등록 (외부 BaaS 불필요)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440740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Rounded Rectangle 31"/>
          <p:cNvSpPr/>
          <p:nvPr/>
        </p:nvSpPr>
        <p:spPr>
          <a:xfrm>
            <a:off x="658368" y="440740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932688" y="453542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Cloudflare D1   </a:t>
            </a:r>
            <a:r>
              <a:rPr sz="1100" b="1">
                <a:solidFill>
                  <a:srgbClr val="2e5a8c"/>
                </a:solidFill>
                <a:latin typeface="맑은 고딕"/>
                <a:ea typeface="맑은 고딕"/>
              </a:rPr>
              <a:t>SQLite DB</a:t>
            </a:r>
            <a:endParaRPr sz="11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2688" y="495604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리더보드 저장 — 일차·생존시간 정렬 인덱스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15968" y="440740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Rounded Rectangle 35"/>
          <p:cNvSpPr/>
          <p:nvPr/>
        </p:nvSpPr>
        <p:spPr>
          <a:xfrm>
            <a:off x="4315968" y="440740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590288" y="453542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Gemini 이미지   </a:t>
            </a:r>
            <a:r>
              <a:rPr sz="1100" b="1">
                <a:solidFill>
                  <a:srgbClr val="e84e6e"/>
                </a:solidFill>
                <a:latin typeface="맑은 고딕"/>
                <a:ea typeface="맑은 고딕"/>
              </a:rPr>
              <a:t>AI 아트 생성</a:t>
            </a:r>
            <a:endParaRPr sz="11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90288" y="495604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gemini-3-pro-image로 캐릭터·배경 78종+ 손그림체 생성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973568" y="4407407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778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" name="Rounded Rectangle 39"/>
          <p:cNvSpPr/>
          <p:nvPr/>
        </p:nvSpPr>
        <p:spPr>
          <a:xfrm>
            <a:off x="7973568" y="4407407"/>
            <a:ext cx="118872" cy="1280160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8247888" y="4535423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>
                <a:solidFill>
                  <a:srgbClr val="16161f"/>
                </a:solidFill>
                <a:latin typeface="맑은 고딕"/>
                <a:ea typeface="맑은 고딕"/>
              </a:rPr>
              <a:t>Web Audio   </a:t>
            </a:r>
            <a:r>
              <a:rPr sz="1100" b="1">
                <a:solidFill>
                  <a:srgbClr val="2fb892"/>
                </a:solidFill>
                <a:latin typeface="맑은 고딕"/>
                <a:ea typeface="맑은 고딕"/>
              </a:rPr>
              <a:t>사운드</a:t>
            </a:r>
            <a:endParaRPr sz="11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47888" y="4956047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150" b="0">
                <a:solidFill>
                  <a:srgbClr val="5a5c69"/>
                </a:solidFill>
                <a:latin typeface="맑은 고딕"/>
                <a:ea typeface="맑은 고딕"/>
              </a:rPr>
              <a:t>칩튠 BGM·SFX를 코드로 합성 (master→bgm/sfx 버스)</a:t>
            </a:r>
            <a:endParaRPr sz="11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12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300" b="1">
                <a:solidFill>
                  <a:srgbClr val="2fb892"/>
                </a:solidFill>
                <a:latin typeface="맑은 고딕"/>
                <a:ea typeface="맑은 고딕"/>
              </a:rPr>
              <a:t>PROCESS · 개발 과정</a:t>
            </a:r>
            <a:endParaRPr sz="13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824" y="502919"/>
            <a:ext cx="10515600" cy="354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2400" b="1">
                <a:solidFill>
                  <a:srgbClr val="16161f"/>
                </a:solidFill>
                <a:latin typeface="맑은 고딕"/>
                <a:ea typeface="맑은 고딕"/>
              </a:rPr>
              <a:t>명세 → 수직 슬라이스 → AI 아트 전면 교체 → 실기기 피드백 </a:t>
            </a:r>
            <a:r>
              <a:rPr lang="ko-KR" altLang="en-US" sz="2400" b="1">
                <a:solidFill>
                  <a:srgbClr val="16161f"/>
                </a:solidFill>
                <a:latin typeface="맑은 고딕"/>
                <a:ea typeface="맑은 고딕"/>
              </a:rPr>
              <a:t>및 </a:t>
            </a:r>
            <a:r>
              <a:rPr sz="2400" b="1">
                <a:solidFill>
                  <a:srgbClr val="16161f"/>
                </a:solidFill>
                <a:latin typeface="맑은 고딕"/>
                <a:ea typeface="맑은 고딕"/>
              </a:rPr>
              <a:t>반복</a:t>
            </a:r>
            <a:r>
              <a:rPr lang="ko-KR" altLang="en-US" sz="2400" b="1">
                <a:solidFill>
                  <a:srgbClr val="16161f"/>
                </a:solidFill>
                <a:latin typeface="맑은 고딕"/>
                <a:ea typeface="맑은 고딕"/>
              </a:rPr>
              <a:t> 수정</a:t>
            </a:r>
            <a:endParaRPr lang="ko-KR" altLang="en-US" sz="240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944368"/>
            <a:ext cx="10332720" cy="54864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Oval 7"/>
          <p:cNvSpPr/>
          <p:nvPr/>
        </p:nvSpPr>
        <p:spPr>
          <a:xfrm>
            <a:off x="1819655" y="2825496"/>
            <a:ext cx="274320" cy="274320"/>
          </a:xfrm>
          <a:prstGeom prst="ellipse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2e5a8c"/>
                </a:solidFill>
                <a:latin typeface="맑은 고딕"/>
                <a:ea typeface="맑은 고딕"/>
              </a:rPr>
              <a:t>STEP 1</a:t>
            </a:r>
            <a:endParaRPr sz="1200" b="1">
              <a:solidFill>
                <a:srgbClr val="2e5a8c"/>
              </a:solidFill>
              <a:latin typeface="맑은 고딕"/>
              <a:ea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201168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41831" y="20665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50" b="1">
                <a:solidFill>
                  <a:srgbClr val="16161f"/>
                </a:solidFill>
                <a:latin typeface="맑은 고딕"/>
                <a:ea typeface="맑은 고딕"/>
              </a:rPr>
              <a:t>명세 &amp; 스캐폴딩</a:t>
            </a:r>
            <a:endParaRPr sz="12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1" y="2377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5a5c69"/>
                </a:solidFill>
                <a:latin typeface="맑은 고딕"/>
                <a:ea typeface="맑은 고딕"/>
              </a:rPr>
              <a:t>게임 명세서 작성 → Vite+TS+Phaser+PWA 골격, 폰 접속 확인</a:t>
            </a:r>
            <a:endParaRPr sz="9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886200" y="2825496"/>
            <a:ext cx="274320" cy="274320"/>
          </a:xfrm>
          <a:prstGeom prst="ellipse">
            <a:avLst/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962656" y="3246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539fe0"/>
                </a:solidFill>
                <a:latin typeface="맑은 고딕"/>
                <a:ea typeface="맑은 고딕"/>
              </a:rPr>
              <a:t>STEP 2</a:t>
            </a:r>
            <a:endParaRPr sz="1200" b="1">
              <a:solidFill>
                <a:srgbClr val="539fe0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62656" y="3547872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008376" y="360273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50" b="1">
                <a:solidFill>
                  <a:srgbClr val="16161f"/>
                </a:solidFill>
                <a:latin typeface="맑은 고딕"/>
                <a:ea typeface="맑은 고딕"/>
              </a:rPr>
              <a:t>수직 슬라이스</a:t>
            </a:r>
            <a:endParaRPr sz="12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08376" y="391363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5a5c69"/>
                </a:solidFill>
                <a:latin typeface="맑은 고딕"/>
                <a:ea typeface="맑은 고딕"/>
              </a:rPr>
              <a:t>GameState·QuestManager·DayIntro/Result → 하루 루프 완성</a:t>
            </a:r>
            <a:endParaRPr sz="9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52744" y="2825496"/>
            <a:ext cx="274320" cy="274320"/>
          </a:xfrm>
          <a:prstGeom prst="ellipse">
            <a:avLst/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2fb892"/>
                </a:solidFill>
                <a:latin typeface="맑은 고딕"/>
                <a:ea typeface="맑은 고딕"/>
              </a:rPr>
              <a:t>STEP 3</a:t>
            </a:r>
            <a:endParaRPr sz="1200" b="1">
              <a:solidFill>
                <a:srgbClr val="2fb892"/>
              </a:solidFill>
              <a:latin typeface="맑은 고딕"/>
              <a:ea typeface="맑은 고딕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0" y="201168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074920" y="20665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50" b="1">
                <a:solidFill>
                  <a:srgbClr val="16161f"/>
                </a:solidFill>
                <a:latin typeface="맑은 고딕"/>
                <a:ea typeface="맑은 고딕"/>
              </a:rPr>
              <a:t>퀘스트 5+미니 3</a:t>
            </a:r>
            <a:endParaRPr sz="12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2377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5a5c69"/>
                </a:solidFill>
                <a:latin typeface="맑은 고딕"/>
                <a:ea typeface="맑은 고딕"/>
              </a:rPr>
              <a:t>메인·미니 퀘스트 구현 + 리더보드(D1) 연동</a:t>
            </a:r>
            <a:endParaRPr sz="9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19288" y="2825496"/>
            <a:ext cx="274320" cy="274320"/>
          </a:xfrm>
          <a:prstGeom prst="ellipse">
            <a:avLst/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095744" y="3246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f2b83e"/>
                </a:solidFill>
                <a:latin typeface="맑은 고딕"/>
                <a:ea typeface="맑은 고딕"/>
              </a:rPr>
              <a:t>STEP 4</a:t>
            </a:r>
            <a:endParaRPr sz="1200" b="1">
              <a:solidFill>
                <a:srgbClr val="f2b83e"/>
              </a:solidFill>
              <a:latin typeface="맑은 고딕"/>
              <a:ea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95744" y="3547872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141464" y="360273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50" b="1">
                <a:solidFill>
                  <a:srgbClr val="16161f"/>
                </a:solidFill>
                <a:latin typeface="맑은 고딕"/>
                <a:ea typeface="맑은 고딕"/>
              </a:rPr>
              <a:t>AI 아트 전면 교체</a:t>
            </a:r>
            <a:endParaRPr sz="12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41464" y="391363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5a5c69"/>
                </a:solidFill>
                <a:latin typeface="맑은 고딕"/>
                <a:ea typeface="맑은 고딕"/>
              </a:rPr>
              <a:t>절차 벡터 드로잉 → Gemini 생성 손그림 PNG 78종+로 교체</a:t>
            </a:r>
            <a:endParaRPr sz="9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085832" y="2825496"/>
            <a:ext cx="274320" cy="274320"/>
          </a:xfrm>
          <a:prstGeom prst="ellipse">
            <a:avLst/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162288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00" b="1">
                <a:solidFill>
                  <a:srgbClr val="e84e6e"/>
                </a:solidFill>
                <a:latin typeface="맑은 고딕"/>
                <a:ea typeface="맑은 고딕"/>
              </a:rPr>
              <a:t>STEP 5</a:t>
            </a:r>
            <a:endParaRPr sz="1200" b="1">
              <a:solidFill>
                <a:srgbClr val="e84e6e"/>
              </a:solidFill>
              <a:latin typeface="맑은 고딕"/>
              <a:ea typeface="맑은 고딕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162288" y="201168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208008" y="20665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250" b="1">
                <a:solidFill>
                  <a:srgbClr val="16161f"/>
                </a:solidFill>
                <a:latin typeface="맑은 고딕"/>
                <a:ea typeface="맑은 고딕"/>
              </a:rPr>
              <a:t>실기기 피드백</a:t>
            </a:r>
            <a:endParaRPr sz="1250" b="1">
              <a:solidFill>
                <a:srgbClr val="16161f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08008" y="2377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5a5c69"/>
                </a:solidFill>
                <a:latin typeface="맑은 고딕"/>
                <a:ea typeface="맑은 고딕"/>
              </a:rPr>
              <a:t>iOS PWA에서 테스트 → 오디오·뷰포트·밸런스·연출 반복 수정</a:t>
            </a:r>
            <a:endParaRPr sz="95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4400" y="5074920"/>
            <a:ext cx="10332720" cy="960120"/>
          </a:xfrm>
          <a:prstGeom prst="roundRect">
            <a:avLst>
              <a:gd name="adj" fmla="val 6000"/>
            </a:avLst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188720" y="5193792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400" b="1">
                <a:solidFill>
                  <a:srgbClr val="f2b83e"/>
                </a:solidFill>
                <a:latin typeface="맑은 고딕"/>
                <a:ea typeface="맑은 고딕"/>
              </a:rPr>
              <a:t>개발 제약  </a:t>
            </a:r>
            <a:r>
              <a:rPr sz="1300" b="0">
                <a:solidFill>
                  <a:srgbClr val="f4f2ec"/>
                </a:solidFill>
                <a:latin typeface="맑은 고딕"/>
                <a:ea typeface="맑은 고딕"/>
              </a:rPr>
              <a:t>개발 PC는 Windows, Mac·USB 불가 → 네이티브 빌드 없이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순수 웹 PWA</a:t>
            </a:r>
            <a:r>
              <a:rPr sz="1300" b="0">
                <a:solidFill>
                  <a:srgbClr val="f4f2ec"/>
                </a:solidFill>
                <a:latin typeface="맑은 고딕"/>
                <a:ea typeface="맑은 고딕"/>
              </a:rPr>
              <a:t>로만 개발. 배포본을 폰에서 “홈 화면에 추가”해 실기기 테스트.</a:t>
            </a:r>
            <a:endParaRPr sz="1300" b="0">
              <a:solidFill>
                <a:srgbClr val="f4f2ec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YGT 2025 · 공군사관학교 2학년 생도 서바이벌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000" b="0">
                <a:solidFill>
                  <a:srgbClr val="5a5c69"/>
                </a:solidFill>
                <a:latin typeface="맑은 고딕"/>
                <a:ea typeface="맑은 고딕"/>
              </a:rPr>
              <a:t>13</a:t>
            </a:r>
            <a:endParaRPr sz="1000" b="0">
              <a:solidFill>
                <a:srgbClr val="5a5c6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4E6E"/>
                </a:solidFill>
                <a:latin typeface="Malgun Gothic"/>
                <a:ea typeface="Malgun Gothic"/>
              </a:rPr>
              <a:t>ART · 화풍 &amp;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AI가 그린 손그림체 — 코드 절차 드로잉을 전면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68496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▲ 계급은 오직 어깨 견장 줄 수로 구분 — 얼굴·복장은 동일하게 그려 ‘눈치 게임’이 성립한다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70001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4E6E"/>
                </a:solidFill>
                <a:latin typeface="Malgun Gothic"/>
                <a:ea typeface="Malgun Gothic"/>
              </a:rPr>
              <a:t>①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10235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Gemini pro-image로
캐릭터시트·실사진 참조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98348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7E4DB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470001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B83E"/>
                </a:solidFill>
                <a:latin typeface="Malgun Gothic"/>
                <a:ea typeface="Malgun Gothic"/>
              </a:rPr>
              <a:t>② 투명화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510235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마젠타/그린 배경을
리전그로우 플러드필로 키잉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98348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7E4DB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470001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FB892"/>
                </a:solidFill>
                <a:latin typeface="Malgun Gothic"/>
                <a:ea typeface="Malgun Gothic"/>
              </a:rPr>
              <a:t>③ 리사이즈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10235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sharp로 팔레트 PNG 압축
(80MB → 15MB)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98348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7E4DB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470001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39FE0"/>
                </a:solidFill>
                <a:latin typeface="Malgun Gothic"/>
                <a:ea typeface="Malgun Gothic"/>
              </a:rPr>
              <a:t>④ 매니페스트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510235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IMAGE_KEYS 등록 →
BootScene가 프리로드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14</a:t>
            </a:r>
          </a:p>
        </p:txBody>
      </p:sp>
      <p:pic>
        <p:nvPicPr>
          <p:cNvPr id="26" name="Picture 25" descr="art_lineu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26" y="1417320"/>
            <a:ext cx="536784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84E6E"/>
                </a:solidFill>
                <a:latin typeface="Malgun Gothic"/>
                <a:ea typeface="Malgun Gothic"/>
              </a:rPr>
              <a:t>CHALLENGES ① · 특히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AI 아트를 ‘게임 에셋’으로 길들이기</a:t>
            </a:r>
          </a:p>
        </p:txBody>
      </p:sp>
      <p:pic>
        <p:nvPicPr>
          <p:cNvPr id="7" name="Picture 6" descr="art_walk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2231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87705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▲ 프레임을 따로 그리면 머리색·완장·얼굴이 프레임마다 달라진다.
   해결: 4칸을 ‘한 장’에 그려 슬라이스 → 정체성 100% 일관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118872" cy="1371600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4650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16161F"/>
                </a:solidFill>
                <a:latin typeface="Malgun Gothic"/>
                <a:ea typeface="Malgun Gothic"/>
              </a:rPr>
              <a:t>🎞️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647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F"/>
                </a:solidFill>
                <a:latin typeface="Malgun Gothic"/>
                <a:ea typeface="Malgun Gothic"/>
              </a:rPr>
              <a:t>프레임 플리커 · 캐릭터 일관성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48840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걸음 애니메이션을 프레임별로 생성하니 매 컷 인물이 바뀜. 스트립(격자) 한 번의 생성으로 앞·뒤 8컷을 함께 그려 해결.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81528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81528"/>
            <a:ext cx="118872" cy="1371600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16161F"/>
                </a:solidFill>
                <a:latin typeface="Malgun Gothic"/>
                <a:ea typeface="Malgun Gothic"/>
              </a:rPr>
              <a:t>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F"/>
                </a:solidFill>
                <a:latin typeface="Malgun Gothic"/>
                <a:ea typeface="Malgun Gothic"/>
              </a:rPr>
              <a:t>캐릭터가 공중에 뜨는 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6301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배경 원근과 안 맞아 인물이 붕 뜬다. 배경 PNG에서 소실점을 실측해 ‘발끝 y로 스케일 역산’하는 1차식으로 배치.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62856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562856"/>
            <a:ext cx="118872" cy="1371600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16161F"/>
                </a:solidFill>
                <a:latin typeface="Malgun Gothic"/>
                <a:ea typeface="Malgun Gothic"/>
              </a:rPr>
              <a:t>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274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61F"/>
                </a:solidFill>
                <a:latin typeface="Malgun Gothic"/>
                <a:ea typeface="Malgun Gothic"/>
              </a:rPr>
              <a:t>국소 수정을 못 하는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111496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C69"/>
                </a:solidFill>
                <a:latin typeface="Malgun Gothic"/>
                <a:ea typeface="Malgun Gothic"/>
              </a:rPr>
              <a:t>신발장 한 칸만 고치는 편집을 5회 실패. diff-마스크로 성공 픽셀만 추출·호모테티 배치하거나, 아예 그 요소를 화면에서 제거.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539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39FE0"/>
                </a:solidFill>
                <a:latin typeface="Malgun Gothic"/>
                <a:ea typeface="Malgun Gothic"/>
              </a:rPr>
              <a:t>CHALLENGES ② · 특히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웹 게임의 현실 — iOS·밸런스·기록의 공정성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5394960" cy="118872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6161F"/>
                </a:solidFill>
                <a:latin typeface="Malgun Gothic"/>
                <a:ea typeface="Malgun Gothic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18653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iOS PWA 오디오 · 뷰포트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6888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홈 화면 앱은 부팅 직후 뷰포트가 설익어 화면이 레터박스에 갇힌다 → #app 크기가 안정될 때까지 기다렸다 높이 확정. 오디오는 무음 audio를 루프 재생해 컨텍스트 유지.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5448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54480"/>
            <a:ext cx="5394960" cy="118872"/>
          </a:xfrm>
          <a:prstGeom prst="roundRect">
            <a:avLst>
              <a:gd name="adj" fmla="val 50000"/>
            </a:avLst>
          </a:prstGeom>
          <a:solidFill>
            <a:srgbClr val="E8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1051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6161F"/>
                </a:solidFill>
                <a:latin typeface="Malgun Gothic"/>
                <a:ea typeface="Malgun Gothic"/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8653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‘운빨 사망’ 없는 난이도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6888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선배가 갑자기 몰려오면 실력과 무관하게 죽는다 → 조우 사이 최소 회복시간 + 시야 점유율 상한을 둬 ‘제한시간 안에 클리어 경로가 항상 존재’하도록 수학적으로 보장.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9476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794760"/>
            <a:ext cx="5394960" cy="118872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5079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6161F"/>
                </a:solidFill>
                <a:latin typeface="Malgun Gothic"/>
                <a:ea typeface="Malgun Gothic"/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410565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리더보드 정렬 · 기록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70916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‘같은 일차면 오래 버틴 순’ 규칙을 위해 D1 인덱스 방향과 순위 쿼리를 재설계. 서버에서 최소 플레이시간·금칙어·범위를 검증해 말도 안 되는 기록을 차단.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79476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4F2EC"/>
          </a:solidFill>
          <a:ln w="16510">
            <a:solidFill>
              <a:srgbClr val="E7E4DB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1928" y="3794760"/>
            <a:ext cx="5394960" cy="118872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05079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6161F"/>
                </a:solidFill>
                <a:latin typeface="Malgun Gothic"/>
                <a:ea typeface="Malgun Gothic"/>
              </a:rP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10565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61F"/>
                </a:solidFill>
                <a:latin typeface="Malgun Gothic"/>
                <a:ea typeface="Malgun Gothic"/>
              </a:rPr>
              <a:t>일관된 UI 화풍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470916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반투명 검정 박스를 버리고 흰 패널 + 굵은 검정 외곽선 + 하드 섀도로 통일. 버튼은 눌리면 그림자 두께만큼 내려앉는다 — 캐릭터 손그림체와 톤을 맞춤.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43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F2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5603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B83E"/>
                </a:solidFill>
                <a:latin typeface="Malgun Gothic"/>
                <a:ea typeface="Malgun Gothic"/>
              </a:rPr>
              <a:t>BACKEND · 리더보드 &amp;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61F"/>
                </a:solidFill>
                <a:latin typeface="Malgun Gothic"/>
                <a:ea typeface="Malgun Gothic"/>
              </a:rPr>
              <a:t>같은 Cloudflare 프로젝트 안에서 서버까지 해결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539FE0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1109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</a:rPr>
              <a:t>게임 클라이언트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4F2EC"/>
                </a:solidFill>
                <a:latin typeface="Malgun Gothic"/>
                <a:ea typeface="Malgun Gothic"/>
              </a:rPr>
              <a:t>신기록일 때만
자동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574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E7E4DB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78308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84E6E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91109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</a:rPr>
              <a:t>Pages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860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4F2EC"/>
                </a:solidFill>
                <a:latin typeface="Malgun Gothic"/>
                <a:ea typeface="Malgun Gothic"/>
              </a:rPr>
              <a:t>/api/leaderboard
검증·순위계산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574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E7E4DB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78308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2E5A8C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1109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</a:rPr>
              <a:t>Cloudflare 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4F2EC"/>
                </a:solidFill>
                <a:latin typeface="Malgun Gothic"/>
                <a:ea typeface="Malgun Gothic"/>
              </a:rPr>
              <a:t>SQLite —
닉네임·일차·시간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783080"/>
            <a:ext cx="2057400" cy="1143000"/>
          </a:xfrm>
          <a:prstGeom prst="roundRect">
            <a:avLst>
              <a:gd name="adj" fmla="val 10000"/>
            </a:avLst>
          </a:prstGeom>
          <a:solidFill>
            <a:srgbClr val="2FB892"/>
          </a:solidFill>
          <a:ln>
            <a:noFill/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911095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</a:rPr>
              <a:t>오프라인 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28600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4F2EC"/>
                </a:solidFill>
                <a:latin typeface="Malgun Gothic"/>
                <a:ea typeface="Malgun Gothic"/>
              </a:rPr>
              <a:t>등록 실패 시
localStorage 재시도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B83E"/>
                </a:solidFill>
                <a:latin typeface="Malgun Gothic"/>
                <a:ea typeface="Malgun Gothic"/>
              </a:rPr>
              <a:t>정렬 · 검증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F2B83E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정렬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일차 DESC → 같은 일차면 생존시간 DESC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F2B83E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중복 제거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닉네임별 최고 기록 1건만 노출 (윈도우 함수)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F2B83E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서버 검증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닉네임 길이·금칙어, 일차 범위, 최소/최대 플레이시간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39FE0"/>
                </a:solidFill>
                <a:latin typeface="Malgun Gothic"/>
                <a:ea typeface="Malgun Gothic"/>
              </a:rPr>
              <a:t>배포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0332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자동 배포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main push → Cloudflare Pages CI 자동 빌드·배포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프리뷰 URL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PR 브랜치마다 미리보기 주소 — 폰 테스트에 유용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858" b="1">
                <a:solidFill>
                  <a:srgbClr val="539FE0"/>
                </a:solidFill>
                <a:latin typeface="Malgun Gothic"/>
                <a:ea typeface="Malgun Gothic"/>
              </a:rPr>
              <a:t>●  </a:t>
            </a:r>
            <a:r>
              <a:rPr sz="1300" b="1">
                <a:solidFill>
                  <a:srgbClr val="16161F"/>
                </a:solidFill>
                <a:latin typeface="Malgun Gothic"/>
                <a:ea typeface="Malgun Gothic"/>
              </a:rPr>
              <a:t>커스텀 도메인</a:t>
            </a:r>
            <a:r>
              <a:rPr sz="1150" b="0">
                <a:solidFill>
                  <a:srgbClr val="5A5C69"/>
                </a:solidFill>
                <a:latin typeface="Malgun Gothic"/>
                <a:ea typeface="Malgun Gothic"/>
              </a:rPr>
              <a:t>   ygt2025.rokafa.app · 자동 HTTPS로 서비스워커 동작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4068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54126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83E"/>
                </a:solidFill>
                <a:latin typeface="Malgun Gothic"/>
                <a:ea typeface="Malgun Gothic"/>
              </a:rPr>
              <a:t>D1 스키마  </a:t>
            </a:r>
            <a:r>
              <a:rPr sz="1200" b="0">
                <a:solidFill>
                  <a:srgbClr val="F4F2EC"/>
                </a:solidFill>
                <a:latin typeface="Consolas"/>
                <a:ea typeface="Consolas"/>
              </a:rPr>
              <a:t>leaderboard(id, nickname, days, play_ms, created_at)  ·  </a:t>
            </a:r>
            <a:r>
              <a:rPr sz="1200" b="0">
                <a:solidFill>
                  <a:srgbClr val="B9BCCC"/>
                </a:solidFill>
                <a:latin typeface="Consolas"/>
                <a:ea typeface="Consolas"/>
              </a:rPr>
              <a:t>INDEX (days DESC, play_ms DESC)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YGT 2025 · 공군사관학교 2학년 생도 서바이벌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C69"/>
                </a:solidFill>
                <a:latin typeface="Malgun Gothic"/>
                <a:ea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rgbClr val="26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98764" y="786384"/>
            <a:ext cx="3044952" cy="52852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6161F"/>
            </a:solidFill>
          </a:ln>
          <a:effectLst>
            <a:outerShdw blurRad="90000" dist="45000" dir="5400000" rotWithShape="0">
              <a:srgbClr val="14141F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_dayintro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060" y="868680"/>
            <a:ext cx="28803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280160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2F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5448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정리하며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6583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2FB892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F4F2EC"/>
                </a:solidFill>
                <a:latin typeface="Malgun Gothic"/>
                <a:ea typeface="Malgun Gothic"/>
              </a:rPr>
              <a:t>웹 표준만으로 완성</a:t>
            </a:r>
            <a:r>
              <a:rPr sz="1350" b="0">
                <a:solidFill>
                  <a:srgbClr val="B9BCCC"/>
                </a:solidFill>
                <a:latin typeface="Malgun Gothic"/>
                <a:ea typeface="Malgun Gothic"/>
              </a:rPr>
              <a:t>   Phaser + Cloudflare 하나로 게임·서버·배포·설치까지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2FB892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F4F2EC"/>
                </a:solidFill>
                <a:latin typeface="Malgun Gothic"/>
                <a:ea typeface="Malgun Gothic"/>
              </a:rPr>
              <a:t>AI 아트 파이프라인</a:t>
            </a:r>
            <a:r>
              <a:rPr sz="1350" b="0">
                <a:solidFill>
                  <a:srgbClr val="B9BCCC"/>
                </a:solidFill>
                <a:latin typeface="Malgun Gothic"/>
                <a:ea typeface="Malgun Gothic"/>
              </a:rPr>
              <a:t>   손그림체 78종+를 생성·정제해 게임 에셋으로 정착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90" b="1">
                <a:solidFill>
                  <a:srgbClr val="2FB892"/>
                </a:solidFill>
                <a:latin typeface="Malgun Gothic"/>
                <a:ea typeface="Malgun Gothic"/>
              </a:rPr>
              <a:t>●  </a:t>
            </a:r>
            <a:r>
              <a:rPr sz="1500" b="1">
                <a:solidFill>
                  <a:srgbClr val="F4F2EC"/>
                </a:solidFill>
                <a:latin typeface="Malgun Gothic"/>
                <a:ea typeface="Malgun Gothic"/>
              </a:rPr>
              <a:t>공정한 반응속도 게임</a:t>
            </a:r>
            <a:r>
              <a:rPr sz="1350" b="0">
                <a:solidFill>
                  <a:srgbClr val="B9BCCC"/>
                </a:solidFill>
                <a:latin typeface="Malgun Gothic"/>
                <a:ea typeface="Malgun Gothic"/>
              </a:rPr>
              <a:t>   ‘운빨 사망’ 없이 조여오는 난이도와 온라인 경쟁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00600"/>
            <a:ext cx="6446520" cy="868680"/>
          </a:xfrm>
          <a:prstGeom prst="roundRect">
            <a:avLst>
              <a:gd name="adj" fmla="val 10000"/>
            </a:avLst>
          </a:prstGeom>
          <a:solidFill>
            <a:srgbClr val="262845"/>
          </a:solidFill>
          <a:ln w="19050">
            <a:solidFill>
              <a:srgbClr val="2FB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19472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FB892"/>
                </a:solidFill>
                <a:latin typeface="Malgun Gothic"/>
                <a:ea typeface="Malgun Gothic"/>
              </a:rPr>
              <a:t>▶ 지금 플레이 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ygt2025.rokafa.app</a:t>
            </a:r>
            <a:r>
              <a:rPr sz="1200" b="0">
                <a:solidFill>
                  <a:srgbClr val="B9BCCC"/>
                </a:solidFill>
                <a:latin typeface="Malgun Gothic"/>
                <a:ea typeface="Malgun Gothic"/>
              </a:rPr>
              <a:t>  (폰에서 “홈 화면에 추가”)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2B83E"/>
                </a:solidFill>
                <a:latin typeface="Malgun Gothic"/>
                <a:ea typeface="Malgun Gothic"/>
              </a:rPr>
              <a:t>감사합니다 🫡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1591</ep:Words>
  <ep:PresentationFormat>On-screen Show (4:3)</ep:PresentationFormat>
  <ep:Paragraphs>285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2026-07-22T22:37:36.403</dcterms:modified>
  <cp:revision>4</cp:revision>
  <cp:version/>
</cp:coreProperties>
</file>